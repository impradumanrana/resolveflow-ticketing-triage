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27248"/>
            <a:ext cx="12191695"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572768"/>
            <a:ext cx="10241280" cy="274320"/>
          </a:xfrm>
          <a:prstGeom prst="rect">
            <a:avLst/>
          </a:prstGeom>
          <a:noFill/>
        </p:spPr>
        <p:txBody>
          <a:bodyPr wrap="square" anchor="t" lIns="0" rIns="0" tIns="0" bIns="0">
            <a:spAutoFit/>
          </a:bodyPr>
          <a:lstStyle/>
          <a:p>
            <a:pPr algn="l">
              <a:lnSpc>
                <a:spcPct val="100000"/>
              </a:lnSpc>
              <a:spcAft>
                <a:spcPts val="0"/>
              </a:spcAft>
            </a:pPr>
            <a:r>
              <a:rPr sz="1200" b="1">
                <a:solidFill>
                  <a:srgbClr val="B9C4FF"/>
                </a:solidFill>
                <a:latin typeface="Arial"/>
              </a:rPr>
              <a:t>HIMSHIKHAR AGENTIC AI SYSTEMS  ·  HACKATHON SUBMISSION</a:t>
            </a:r>
          </a:p>
        </p:txBody>
      </p:sp>
      <p:sp>
        <p:nvSpPr>
          <p:cNvPr id="5" name="TextBox 4"/>
          <p:cNvSpPr txBox="1"/>
          <p:nvPr/>
        </p:nvSpPr>
        <p:spPr>
          <a:xfrm>
            <a:off x="1005840" y="1975104"/>
            <a:ext cx="10241280" cy="914400"/>
          </a:xfrm>
          <a:prstGeom prst="rect">
            <a:avLst/>
          </a:prstGeom>
          <a:noFill/>
        </p:spPr>
        <p:txBody>
          <a:bodyPr wrap="square" anchor="t" lIns="0" rIns="0" tIns="0" bIns="0">
            <a:spAutoFit/>
          </a:bodyPr>
          <a:lstStyle/>
          <a:p>
            <a:pPr algn="l">
              <a:lnSpc>
                <a:spcPct val="100000"/>
              </a:lnSpc>
              <a:spcAft>
                <a:spcPts val="0"/>
              </a:spcAft>
            </a:pPr>
            <a:r>
              <a:rPr sz="5400" b="1">
                <a:solidFill>
                  <a:srgbClr val="FFFFFF"/>
                </a:solidFill>
                <a:latin typeface="Arial"/>
              </a:rPr>
              <a:t>ResolveFlow AI</a:t>
            </a:r>
          </a:p>
        </p:txBody>
      </p:sp>
      <p:sp>
        <p:nvSpPr>
          <p:cNvPr id="6" name="TextBox 5"/>
          <p:cNvSpPr txBox="1"/>
          <p:nvPr/>
        </p:nvSpPr>
        <p:spPr>
          <a:xfrm>
            <a:off x="1005840" y="3401568"/>
            <a:ext cx="9509760" cy="548640"/>
          </a:xfrm>
          <a:prstGeom prst="rect">
            <a:avLst/>
          </a:prstGeom>
          <a:noFill/>
        </p:spPr>
        <p:txBody>
          <a:bodyPr wrap="square" anchor="t" lIns="0" rIns="0" tIns="0" bIns="0">
            <a:spAutoFit/>
          </a:bodyPr>
          <a:lstStyle/>
          <a:p>
            <a:pPr algn="l">
              <a:lnSpc>
                <a:spcPct val="100000"/>
              </a:lnSpc>
              <a:spcAft>
                <a:spcPts val="0"/>
              </a:spcAft>
            </a:pPr>
            <a:r>
              <a:rPr sz="2100" b="0">
                <a:solidFill>
                  <a:srgbClr val="B9C4FF"/>
                </a:solidFill>
                <a:latin typeface="Arial"/>
              </a:rPr>
              <a:t>Safe, explainable first-line customer-support triage</a:t>
            </a:r>
          </a:p>
        </p:txBody>
      </p:sp>
      <p:sp>
        <p:nvSpPr>
          <p:cNvPr id="7" name="TextBox 6"/>
          <p:cNvSpPr txBox="1"/>
          <p:nvPr/>
        </p:nvSpPr>
        <p:spPr>
          <a:xfrm>
            <a:off x="1005840" y="3968496"/>
            <a:ext cx="9692640" cy="822960"/>
          </a:xfrm>
          <a:prstGeom prst="rect">
            <a:avLst/>
          </a:prstGeom>
          <a:noFill/>
        </p:spPr>
        <p:txBody>
          <a:bodyPr wrap="square" anchor="t" lIns="0" rIns="0" tIns="0" bIns="0">
            <a:spAutoFit/>
          </a:bodyPr>
          <a:lstStyle/>
          <a:p>
            <a:pPr algn="l">
              <a:lnSpc>
                <a:spcPct val="125000"/>
              </a:lnSpc>
              <a:spcAft>
                <a:spcPts val="0"/>
              </a:spcAft>
            </a:pPr>
            <a:r>
              <a:rPr sz="1300" b="0">
                <a:solidFill>
                  <a:srgbClr val="A9B6E8"/>
                </a:solidFill>
                <a:latin typeface="Arial"/>
              </a:rPr>
              <a:t>A LangGraph agent that classifies tickets, enforces deterministic safety rules, and retrieves grounded answers across a real MCP server boundary.</a:t>
            </a:r>
          </a:p>
        </p:txBody>
      </p:sp>
      <p:sp>
        <p:nvSpPr>
          <p:cNvPr id="8" name="Rectangle 7"/>
          <p:cNvSpPr/>
          <p:nvPr/>
        </p:nvSpPr>
        <p:spPr>
          <a:xfrm>
            <a:off x="1005840" y="5029200"/>
            <a:ext cx="329184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230368"/>
            <a:ext cx="4937760" cy="914400"/>
          </a:xfrm>
          <a:prstGeom prst="rect">
            <a:avLst/>
          </a:prstGeom>
          <a:noFill/>
        </p:spPr>
        <p:txBody>
          <a:bodyPr wrap="square" anchor="t" lIns="0" rIns="0" tIns="0" bIns="0">
            <a:spAutoFit/>
          </a:bodyPr>
          <a:lstStyle/>
          <a:p>
            <a:pPr algn="l">
              <a:lnSpc>
                <a:spcPct val="100000"/>
              </a:lnSpc>
              <a:spcAft>
                <a:spcPts val="300"/>
              </a:spcAft>
            </a:pPr>
            <a:r>
              <a:rPr sz="1300" b="1">
                <a:solidFill>
                  <a:srgbClr val="FFFFFF"/>
                </a:solidFill>
                <a:latin typeface="Arial"/>
              </a:rPr>
              <a:t>Parduman Rana  ·  Roll No. 131</a:t>
            </a:r>
          </a:p>
          <a:p>
            <a:pPr algn="l">
              <a:lnSpc>
                <a:spcPct val="100000"/>
              </a:lnSpc>
              <a:spcAft>
                <a:spcPts val="0"/>
              </a:spcAft>
            </a:pPr>
            <a:r>
              <a:rPr sz="1200" b="0">
                <a:solidFill>
                  <a:srgbClr val="B9C4FF"/>
                </a:solidFill>
                <a:latin typeface="Arial"/>
              </a:rPr>
              <a:t>Himshikhar Agentic AI Systems</a:t>
            </a:r>
          </a:p>
        </p:txBody>
      </p:sp>
      <p:sp>
        <p:nvSpPr>
          <p:cNvPr id="10" name="TextBox 9"/>
          <p:cNvSpPr txBox="1"/>
          <p:nvPr/>
        </p:nvSpPr>
        <p:spPr>
          <a:xfrm>
            <a:off x="6583680" y="5230368"/>
            <a:ext cx="4663440" cy="914400"/>
          </a:xfrm>
          <a:prstGeom prst="rect">
            <a:avLst/>
          </a:prstGeom>
          <a:noFill/>
        </p:spPr>
        <p:txBody>
          <a:bodyPr wrap="square" anchor="t" lIns="0" rIns="0" tIns="0" bIns="0">
            <a:spAutoFit/>
          </a:bodyPr>
          <a:lstStyle/>
          <a:p>
            <a:pPr algn="l">
              <a:lnSpc>
                <a:spcPct val="100000"/>
              </a:lnSpc>
              <a:spcAft>
                <a:spcPts val="300"/>
              </a:spcAft>
            </a:pPr>
            <a:r>
              <a:rPr sz="1100" b="1">
                <a:solidFill>
                  <a:srgbClr val="4F46E5"/>
                </a:solidFill>
                <a:latin typeface="Arial"/>
              </a:rPr>
              <a:t>Repository</a:t>
            </a:r>
          </a:p>
          <a:p>
            <a:pPr algn="l">
              <a:lnSpc>
                <a:spcPct val="100000"/>
              </a:lnSpc>
              <a:spcAft>
                <a:spcPts val="0"/>
              </a:spcAft>
            </a:pPr>
            <a:r>
              <a:rPr sz="1100" b="0">
                <a:solidFill>
                  <a:srgbClr val="B9C4FF"/>
                </a:solidFill>
                <a:latin typeface="Arial"/>
              </a:rPr>
              <a:t>github.com/impradumanrana/</a:t>
            </a:r>
          </a:p>
          <a:p>
            <a:pPr algn="l">
              <a:lnSpc>
                <a:spcPct val="100000"/>
              </a:lnSpc>
              <a:spcAft>
                <a:spcPts val="0"/>
              </a:spcAft>
            </a:pPr>
            <a:r>
              <a:rPr sz="1100" b="0">
                <a:solidFill>
                  <a:srgbClr val="B9C4FF"/>
                </a:solidFill>
                <a:latin typeface="Arial"/>
              </a:rPr>
              <a:t>ResolveFlow-Ticketing-triage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THE PROBLEM</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Routine questions and real emergencies share one queue</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828800"/>
            <a:ext cx="5486400" cy="4023360"/>
          </a:xfrm>
          <a:prstGeom prst="rect">
            <a:avLst/>
          </a:prstGeom>
          <a:noFill/>
        </p:spPr>
        <p:txBody>
          <a:bodyPr wrap="square" lIns="0" rIns="0" tIns="0" bIns="0">
            <a:spAutoFit/>
          </a:bodyPr>
          <a:lstStyle/>
          <a:p>
            <a:pPr>
              <a:lnSpc>
                <a:spcPct val="118000"/>
              </a:lnSpc>
              <a:spcAft>
                <a:spcPts val="1100"/>
              </a:spcAft>
            </a:pPr>
            <a:r>
              <a:rPr sz="1400" b="1">
                <a:solidFill>
                  <a:srgbClr val="4F46E5"/>
                </a:solidFill>
                <a:latin typeface="Arial"/>
              </a:rPr>
              <a:t>▪  </a:t>
            </a:r>
            <a:r>
              <a:rPr sz="1400" b="1">
                <a:solidFill>
                  <a:srgbClr val="172033"/>
                </a:solidFill>
                <a:latin typeface="Arial"/>
              </a:rPr>
              <a:t>Volume is repetitive. </a:t>
            </a:r>
            <a:r>
              <a:rPr sz="1400">
                <a:solidFill>
                  <a:srgbClr val="596579"/>
                </a:solidFill>
                <a:latin typeface="Arial"/>
              </a:rPr>
              <a:t>Most tickets are password resets and billing FAQs that a human reads, classifies, and answers by hand.</a:t>
            </a:r>
          </a:p>
          <a:p>
            <a:pPr>
              <a:lnSpc>
                <a:spcPct val="118000"/>
              </a:lnSpc>
              <a:spcAft>
                <a:spcPts val="1100"/>
              </a:spcAft>
            </a:pPr>
            <a:r>
              <a:rPr sz="1400" b="1">
                <a:solidFill>
                  <a:srgbClr val="4F46E5"/>
                </a:solidFill>
                <a:latin typeface="Arial"/>
              </a:rPr>
              <a:t>▪  </a:t>
            </a:r>
            <a:r>
              <a:rPr sz="1400" b="1">
                <a:solidFill>
                  <a:srgbClr val="172033"/>
                </a:solidFill>
                <a:latin typeface="Arial"/>
              </a:rPr>
              <a:t>Risk is buried in that volume. </a:t>
            </a:r>
            <a:r>
              <a:rPr sz="1400">
                <a:solidFill>
                  <a:srgbClr val="596579"/>
                </a:solidFill>
                <a:latin typeface="Arial"/>
              </a:rPr>
              <a:t>A chargeback threat or an account takeover arrives in the same list as a 2FA question.</a:t>
            </a:r>
          </a:p>
          <a:p>
            <a:pPr>
              <a:lnSpc>
                <a:spcPct val="118000"/>
              </a:lnSpc>
              <a:spcAft>
                <a:spcPts val="1100"/>
              </a:spcAft>
            </a:pPr>
            <a:r>
              <a:rPr sz="1400" b="1">
                <a:solidFill>
                  <a:srgbClr val="4F46E5"/>
                </a:solidFill>
                <a:latin typeface="Arial"/>
              </a:rPr>
              <a:t>▪  </a:t>
            </a:r>
            <a:r>
              <a:rPr sz="1400" b="1">
                <a:solidFill>
                  <a:srgbClr val="172033"/>
                </a:solidFill>
                <a:latin typeface="Arial"/>
              </a:rPr>
              <a:t>Naive automation makes it worse. </a:t>
            </a:r>
            <a:r>
              <a:rPr sz="1400">
                <a:solidFill>
                  <a:srgbClr val="596579"/>
                </a:solidFill>
                <a:latin typeface="Arial"/>
              </a:rPr>
              <a:t>A bot that answers whatever looks similar will confidently reply to a fraud report.</a:t>
            </a:r>
          </a:p>
        </p:txBody>
      </p:sp>
      <p:sp>
        <p:nvSpPr>
          <p:cNvPr id="8" name="Rectangle 7"/>
          <p:cNvSpPr/>
          <p:nvPr/>
        </p:nvSpPr>
        <p:spPr>
          <a:xfrm>
            <a:off x="6537960" y="1828800"/>
            <a:ext cx="4983480" cy="129844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37960" y="1828800"/>
            <a:ext cx="4983480"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39128" y="2066544"/>
            <a:ext cx="4581144" cy="274320"/>
          </a:xfrm>
          <a:prstGeom prst="rect">
            <a:avLst/>
          </a:prstGeom>
          <a:noFill/>
        </p:spPr>
        <p:txBody>
          <a:bodyPr wrap="square" anchor="t" lIns="0" rIns="0" tIns="0" bIns="0">
            <a:spAutoFit/>
          </a:bodyPr>
          <a:lstStyle/>
          <a:p>
            <a:pPr algn="l">
              <a:lnSpc>
                <a:spcPct val="100000"/>
              </a:lnSpc>
              <a:spcAft>
                <a:spcPts val="400"/>
              </a:spcAft>
            </a:pPr>
            <a:r>
              <a:rPr sz="1300" b="1">
                <a:solidFill>
                  <a:srgbClr val="0B1739"/>
                </a:solidFill>
                <a:latin typeface="Arial"/>
              </a:rPr>
              <a:t>The requirement</a:t>
            </a:r>
          </a:p>
        </p:txBody>
      </p:sp>
      <p:sp>
        <p:nvSpPr>
          <p:cNvPr id="11" name="TextBox 10"/>
          <p:cNvSpPr txBox="1"/>
          <p:nvPr/>
        </p:nvSpPr>
        <p:spPr>
          <a:xfrm>
            <a:off x="6739128" y="2395728"/>
            <a:ext cx="4581144" cy="566928"/>
          </a:xfrm>
          <a:prstGeom prst="rect">
            <a:avLst/>
          </a:prstGeom>
          <a:noFill/>
        </p:spPr>
        <p:txBody>
          <a:bodyPr wrap="square" anchor="t" lIns="0" rIns="0" tIns="0" bIns="0">
            <a:spAutoFit/>
          </a:bodyPr>
          <a:lstStyle/>
          <a:p>
            <a:pPr algn="l">
              <a:lnSpc>
                <a:spcPct val="116000"/>
              </a:lnSpc>
              <a:spcAft>
                <a:spcPts val="0"/>
              </a:spcAft>
            </a:pPr>
            <a:r>
              <a:rPr sz="1100" b="0">
                <a:solidFill>
                  <a:srgbClr val="596579"/>
                </a:solidFill>
                <a:latin typeface="Arial"/>
              </a:rPr>
              <a:t>Cut the repetitive work without ever auto-answering something that should have reached a person.</a:t>
            </a:r>
          </a:p>
        </p:txBody>
      </p:sp>
      <p:sp>
        <p:nvSpPr>
          <p:cNvPr id="12" name="Rectangle 11"/>
          <p:cNvSpPr/>
          <p:nvPr/>
        </p:nvSpPr>
        <p:spPr>
          <a:xfrm>
            <a:off x="6537960" y="3291840"/>
            <a:ext cx="4983480" cy="228600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37960" y="3291840"/>
            <a:ext cx="4983480" cy="45720"/>
          </a:xfrm>
          <a:prstGeom prst="rect">
            <a:avLst/>
          </a:prstGeom>
          <a:solidFill>
            <a:srgbClr val="BD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9128" y="3529584"/>
            <a:ext cx="4581144" cy="274320"/>
          </a:xfrm>
          <a:prstGeom prst="rect">
            <a:avLst/>
          </a:prstGeom>
          <a:noFill/>
        </p:spPr>
        <p:txBody>
          <a:bodyPr wrap="square" anchor="t" lIns="0" rIns="0" tIns="0" bIns="0">
            <a:spAutoFit/>
          </a:bodyPr>
          <a:lstStyle/>
          <a:p>
            <a:pPr algn="l">
              <a:lnSpc>
                <a:spcPct val="100000"/>
              </a:lnSpc>
              <a:spcAft>
                <a:spcPts val="400"/>
              </a:spcAft>
            </a:pPr>
            <a:r>
              <a:rPr sz="1300" b="1">
                <a:solidFill>
                  <a:srgbClr val="0B1739"/>
                </a:solidFill>
                <a:latin typeface="Arial"/>
              </a:rPr>
              <a:t>The core design decision</a:t>
            </a:r>
          </a:p>
        </p:txBody>
      </p:sp>
      <p:sp>
        <p:nvSpPr>
          <p:cNvPr id="15" name="TextBox 14"/>
          <p:cNvSpPr txBox="1"/>
          <p:nvPr/>
        </p:nvSpPr>
        <p:spPr>
          <a:xfrm>
            <a:off x="6739128" y="3858768"/>
            <a:ext cx="4581144" cy="1554480"/>
          </a:xfrm>
          <a:prstGeom prst="rect">
            <a:avLst/>
          </a:prstGeom>
          <a:noFill/>
        </p:spPr>
        <p:txBody>
          <a:bodyPr wrap="square" anchor="t" lIns="0" rIns="0" tIns="0" bIns="0">
            <a:spAutoFit/>
          </a:bodyPr>
          <a:lstStyle/>
          <a:p>
            <a:pPr algn="l">
              <a:lnSpc>
                <a:spcPct val="116000"/>
              </a:lnSpc>
              <a:spcAft>
                <a:spcPts val="0"/>
              </a:spcAft>
            </a:pPr>
            <a:r>
              <a:rPr sz="1100" b="0">
                <a:solidFill>
                  <a:srgbClr val="596579"/>
                </a:solidFill>
                <a:latin typeface="Arial"/>
              </a:rPr>
              <a:t>Relevance is necessary but never sufficient. A strong knowledge match does not earn automation on its own — deterministic safety rules are evaluated first and always win, even when the model is confident and the article is genuinely relevant.</a:t>
            </a:r>
          </a:p>
        </p:txBody>
      </p:sp>
      <p:sp>
        <p:nvSpPr>
          <p:cNvPr id="16" name="TextBox 15"/>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17" name="TextBox 16"/>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WHAT IT DOES</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Every ticket exits through exactly one of three routes</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74519"/>
            <a:ext cx="2999232" cy="239572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874519"/>
            <a:ext cx="2999232" cy="384048"/>
          </a:xfrm>
          <a:prstGeom prst="rect">
            <a:avLst/>
          </a:prstGeom>
          <a:solidFill>
            <a:srgbClr val="087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24811"/>
            <a:ext cx="2999232" cy="384048"/>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Arial"/>
              </a:rPr>
              <a:t>AUTO_RESOLVE</a:t>
            </a:r>
          </a:p>
        </p:txBody>
      </p:sp>
      <p:sp>
        <p:nvSpPr>
          <p:cNvPr id="10" name="TextBox 9"/>
          <p:cNvSpPr txBox="1"/>
          <p:nvPr/>
        </p:nvSpPr>
        <p:spPr>
          <a:xfrm>
            <a:off x="877824" y="2478023"/>
            <a:ext cx="2560320" cy="274320"/>
          </a:xfrm>
          <a:prstGeom prst="rect">
            <a:avLst/>
          </a:prstGeom>
          <a:noFill/>
        </p:spPr>
        <p:txBody>
          <a:bodyPr wrap="square" anchor="t" lIns="0" rIns="0" tIns="0" bIns="0">
            <a:spAutoFit/>
          </a:bodyPr>
          <a:lstStyle/>
          <a:p>
            <a:pPr algn="l">
              <a:lnSpc>
                <a:spcPct val="100000"/>
              </a:lnSpc>
              <a:spcAft>
                <a:spcPts val="600"/>
              </a:spcAft>
            </a:pPr>
            <a:r>
              <a:rPr sz="1250" b="1">
                <a:solidFill>
                  <a:srgbClr val="0B1739"/>
                </a:solidFill>
                <a:latin typeface="Arial"/>
              </a:rPr>
              <a:t>Strong, low-risk match</a:t>
            </a:r>
          </a:p>
        </p:txBody>
      </p:sp>
      <p:sp>
        <p:nvSpPr>
          <p:cNvPr id="11" name="TextBox 10"/>
          <p:cNvSpPr txBox="1"/>
          <p:nvPr/>
        </p:nvSpPr>
        <p:spPr>
          <a:xfrm>
            <a:off x="877824" y="2843783"/>
            <a:ext cx="2560320" cy="1280160"/>
          </a:xfrm>
          <a:prstGeom prst="rect">
            <a:avLst/>
          </a:prstGeom>
          <a:noFill/>
        </p:spPr>
        <p:txBody>
          <a:bodyPr wrap="square" anchor="t" lIns="0" rIns="0" tIns="0" bIns="0">
            <a:spAutoFit/>
          </a:bodyPr>
          <a:lstStyle/>
          <a:p>
            <a:pPr algn="l">
              <a:lnSpc>
                <a:spcPct val="118000"/>
              </a:lnSpc>
              <a:spcAft>
                <a:spcPts val="0"/>
              </a:spcAft>
            </a:pPr>
            <a:r>
              <a:rPr sz="1150" b="0">
                <a:solidFill>
                  <a:srgbClr val="596579"/>
                </a:solidFill>
                <a:latin typeface="Arial"/>
              </a:rPr>
              <a:t>A cited draft, grounded in retrieved passages and validated quote-by-quote.</a:t>
            </a:r>
          </a:p>
        </p:txBody>
      </p:sp>
      <p:sp>
        <p:nvSpPr>
          <p:cNvPr id="12" name="Rectangle 11"/>
          <p:cNvSpPr/>
          <p:nvPr/>
        </p:nvSpPr>
        <p:spPr>
          <a:xfrm>
            <a:off x="4599432" y="1874519"/>
            <a:ext cx="2999232" cy="239572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99432" y="1874519"/>
            <a:ext cx="2999232" cy="384048"/>
          </a:xfrm>
          <a:prstGeom prst="rect">
            <a:avLst/>
          </a:prstGeom>
          <a:solidFill>
            <a:srgbClr val="9A6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1924811"/>
            <a:ext cx="2999232" cy="384048"/>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Arial"/>
              </a:rPr>
              <a:t>CLARIFY</a:t>
            </a:r>
          </a:p>
        </p:txBody>
      </p:sp>
      <p:sp>
        <p:nvSpPr>
          <p:cNvPr id="15" name="TextBox 14"/>
          <p:cNvSpPr txBox="1"/>
          <p:nvPr/>
        </p:nvSpPr>
        <p:spPr>
          <a:xfrm>
            <a:off x="4818888" y="2478023"/>
            <a:ext cx="2560320" cy="274320"/>
          </a:xfrm>
          <a:prstGeom prst="rect">
            <a:avLst/>
          </a:prstGeom>
          <a:noFill/>
        </p:spPr>
        <p:txBody>
          <a:bodyPr wrap="square" anchor="t" lIns="0" rIns="0" tIns="0" bIns="0">
            <a:spAutoFit/>
          </a:bodyPr>
          <a:lstStyle/>
          <a:p>
            <a:pPr algn="l">
              <a:lnSpc>
                <a:spcPct val="100000"/>
              </a:lnSpc>
              <a:spcAft>
                <a:spcPts val="600"/>
              </a:spcAft>
            </a:pPr>
            <a:r>
              <a:rPr sz="1250" b="1">
                <a:solidFill>
                  <a:srgbClr val="0B1739"/>
                </a:solidFill>
                <a:latin typeface="Arial"/>
              </a:rPr>
              <a:t>One required fact is missing</a:t>
            </a:r>
          </a:p>
        </p:txBody>
      </p:sp>
      <p:sp>
        <p:nvSpPr>
          <p:cNvPr id="16" name="TextBox 15"/>
          <p:cNvSpPr txBox="1"/>
          <p:nvPr/>
        </p:nvSpPr>
        <p:spPr>
          <a:xfrm>
            <a:off x="4818888" y="2843783"/>
            <a:ext cx="2560320" cy="1280160"/>
          </a:xfrm>
          <a:prstGeom prst="rect">
            <a:avLst/>
          </a:prstGeom>
          <a:noFill/>
        </p:spPr>
        <p:txBody>
          <a:bodyPr wrap="square" anchor="t" lIns="0" rIns="0" tIns="0" bIns="0">
            <a:spAutoFit/>
          </a:bodyPr>
          <a:lstStyle/>
          <a:p>
            <a:pPr algn="l">
              <a:lnSpc>
                <a:spcPct val="118000"/>
              </a:lnSpc>
              <a:spcAft>
                <a:spcPts val="0"/>
              </a:spcAft>
            </a:pPr>
            <a:r>
              <a:rPr sz="1150" b="0">
                <a:solidFill>
                  <a:srgbClr val="596579"/>
                </a:solidFill>
                <a:latin typeface="Arial"/>
              </a:rPr>
              <a:t>Asks for the specific detail needed — only when the system knows which one.</a:t>
            </a:r>
          </a:p>
        </p:txBody>
      </p:sp>
      <p:sp>
        <p:nvSpPr>
          <p:cNvPr id="17" name="Rectangle 16"/>
          <p:cNvSpPr/>
          <p:nvPr/>
        </p:nvSpPr>
        <p:spPr>
          <a:xfrm>
            <a:off x="8540496" y="1874519"/>
            <a:ext cx="2999232" cy="239572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540496" y="1874519"/>
            <a:ext cx="2999232" cy="384048"/>
          </a:xfrm>
          <a:prstGeom prst="rect">
            <a:avLst/>
          </a:prstGeom>
          <a:solidFill>
            <a:srgbClr val="BD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0496" y="1924811"/>
            <a:ext cx="2999232" cy="384048"/>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Arial"/>
              </a:rPr>
              <a:t>ESCALATE</a:t>
            </a:r>
          </a:p>
        </p:txBody>
      </p:sp>
      <p:sp>
        <p:nvSpPr>
          <p:cNvPr id="20" name="TextBox 19"/>
          <p:cNvSpPr txBox="1"/>
          <p:nvPr/>
        </p:nvSpPr>
        <p:spPr>
          <a:xfrm>
            <a:off x="8759952" y="2478023"/>
            <a:ext cx="2560320" cy="274320"/>
          </a:xfrm>
          <a:prstGeom prst="rect">
            <a:avLst/>
          </a:prstGeom>
          <a:noFill/>
        </p:spPr>
        <p:txBody>
          <a:bodyPr wrap="square" anchor="t" lIns="0" rIns="0" tIns="0" bIns="0">
            <a:spAutoFit/>
          </a:bodyPr>
          <a:lstStyle/>
          <a:p>
            <a:pPr algn="l">
              <a:lnSpc>
                <a:spcPct val="100000"/>
              </a:lnSpc>
              <a:spcAft>
                <a:spcPts val="600"/>
              </a:spcAft>
            </a:pPr>
            <a:r>
              <a:rPr sz="1250" b="1">
                <a:solidFill>
                  <a:srgbClr val="0B1739"/>
                </a:solidFill>
                <a:latin typeface="Arial"/>
              </a:rPr>
              <a:t>Risk, doubt, or failure</a:t>
            </a:r>
          </a:p>
        </p:txBody>
      </p:sp>
      <p:sp>
        <p:nvSpPr>
          <p:cNvPr id="21" name="TextBox 20"/>
          <p:cNvSpPr txBox="1"/>
          <p:nvPr/>
        </p:nvSpPr>
        <p:spPr>
          <a:xfrm>
            <a:off x="8759952" y="2843783"/>
            <a:ext cx="2560320" cy="1280160"/>
          </a:xfrm>
          <a:prstGeom prst="rect">
            <a:avLst/>
          </a:prstGeom>
          <a:noFill/>
        </p:spPr>
        <p:txBody>
          <a:bodyPr wrap="square" anchor="t" lIns="0" rIns="0" tIns="0" bIns="0">
            <a:spAutoFit/>
          </a:bodyPr>
          <a:lstStyle/>
          <a:p>
            <a:pPr algn="l">
              <a:lnSpc>
                <a:spcPct val="118000"/>
              </a:lnSpc>
              <a:spcAft>
                <a:spcPts val="0"/>
              </a:spcAft>
            </a:pPr>
            <a:r>
              <a:rPr sz="1150" b="0">
                <a:solidFill>
                  <a:srgbClr val="596579"/>
                </a:solidFill>
                <a:latin typeface="Arial"/>
              </a:rPr>
              <a:t>Human handoff with the exact rule codes that forced it.</a:t>
            </a:r>
          </a:p>
        </p:txBody>
      </p:sp>
      <p:sp>
        <p:nvSpPr>
          <p:cNvPr id="22" name="Rectangle 21"/>
          <p:cNvSpPr/>
          <p:nvPr/>
        </p:nvSpPr>
        <p:spPr>
          <a:xfrm>
            <a:off x="658368" y="4617720"/>
            <a:ext cx="10881360" cy="841248"/>
          </a:xfrm>
          <a:prstGeom prst="rect">
            <a:avLst/>
          </a:prstGeom>
          <a:solidFill>
            <a:srgbClr val="EEF2FF"/>
          </a:solidFill>
          <a:ln w="12700">
            <a:solidFill>
              <a:srgbClr val="CFD6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791456"/>
            <a:ext cx="10332720" cy="548640"/>
          </a:xfrm>
          <a:prstGeom prst="rect">
            <a:avLst/>
          </a:prstGeom>
          <a:noFill/>
        </p:spPr>
        <p:txBody>
          <a:bodyPr wrap="square" anchor="t" lIns="0" rIns="0" tIns="0" bIns="0">
            <a:spAutoFit/>
          </a:bodyPr>
          <a:lstStyle/>
          <a:p>
            <a:pPr algn="l">
              <a:lnSpc>
                <a:spcPct val="100000"/>
              </a:lnSpc>
              <a:spcAft>
                <a:spcPts val="0"/>
              </a:spcAft>
            </a:pPr>
            <a:r>
              <a:rPr sz="1300" b="1">
                <a:solidFill>
                  <a:srgbClr val="0B1739"/>
                </a:solidFill>
                <a:latin typeface="Arial"/>
              </a:rPr>
              <a:t>No message is ever sent to a customer. </a:t>
            </a:r>
          </a:p>
        </p:txBody>
      </p:sp>
      <p:sp>
        <p:nvSpPr>
          <p:cNvPr id="24" name="TextBox 23"/>
          <p:cNvSpPr txBox="1"/>
          <p:nvPr/>
        </p:nvSpPr>
        <p:spPr>
          <a:xfrm>
            <a:off x="3127248" y="4791456"/>
            <a:ext cx="8229600" cy="548640"/>
          </a:xfrm>
          <a:prstGeom prst="rect">
            <a:avLst/>
          </a:prstGeom>
          <a:noFill/>
        </p:spPr>
        <p:txBody>
          <a:bodyPr wrap="square" anchor="t" lIns="0" rIns="0" tIns="0" bIns="0">
            <a:spAutoFit/>
          </a:bodyPr>
          <a:lstStyle/>
          <a:p>
            <a:pPr algn="l">
              <a:lnSpc>
                <a:spcPct val="100000"/>
              </a:lnSpc>
              <a:spcAft>
                <a:spcPts val="0"/>
              </a:spcAft>
            </a:pPr>
            <a:r>
              <a:rPr sz="1300" b="0">
                <a:solidFill>
                  <a:srgbClr val="172033"/>
                </a:solidFill>
                <a:latin typeface="Arial"/>
              </a:rPr>
              <a:t>AUTO_RESOLVE produces a review-ready draft — autonomous contact is deliberately disabled.</a:t>
            </a:r>
          </a:p>
        </p:txBody>
      </p:sp>
      <p:sp>
        <p:nvSpPr>
          <p:cNvPr id="25" name="TextBox 24"/>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26" name="TextBox 25"/>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ARCHITECTURE</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An inspectable LangGraph state machine</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1883664" cy="566928"/>
          </a:xfrm>
          <a:prstGeom prst="rect">
            <a:avLst/>
          </a:prstGeom>
          <a:solidFill>
            <a:srgbClr val="FFFFFF"/>
          </a:solidFill>
          <a:ln w="1524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002536"/>
            <a:ext cx="1883664" cy="274320"/>
          </a:xfrm>
          <a:prstGeom prst="rect">
            <a:avLst/>
          </a:prstGeom>
          <a:noFill/>
        </p:spPr>
        <p:txBody>
          <a:bodyPr wrap="square" anchor="t" lIns="0" rIns="0" tIns="0" bIns="0">
            <a:spAutoFit/>
          </a:bodyPr>
          <a:lstStyle/>
          <a:p>
            <a:pPr algn="ctr">
              <a:lnSpc>
                <a:spcPct val="100000"/>
              </a:lnSpc>
              <a:spcAft>
                <a:spcPts val="0"/>
              </a:spcAft>
            </a:pPr>
            <a:r>
              <a:rPr sz="1150" b="1">
                <a:solidFill>
                  <a:srgbClr val="0B1739"/>
                </a:solidFill>
                <a:latin typeface="Arial"/>
              </a:rPr>
              <a:t>perceive</a:t>
            </a:r>
          </a:p>
        </p:txBody>
      </p:sp>
      <p:sp>
        <p:nvSpPr>
          <p:cNvPr id="9" name="TextBox 8"/>
          <p:cNvSpPr txBox="1"/>
          <p:nvPr/>
        </p:nvSpPr>
        <p:spPr>
          <a:xfrm>
            <a:off x="2542032" y="1984248"/>
            <a:ext cx="310896" cy="274320"/>
          </a:xfrm>
          <a:prstGeom prst="rect">
            <a:avLst/>
          </a:prstGeom>
          <a:noFill/>
        </p:spPr>
        <p:txBody>
          <a:bodyPr wrap="square" anchor="t" lIns="0" rIns="0" tIns="0" bIns="0">
            <a:spAutoFit/>
          </a:bodyPr>
          <a:lstStyle/>
          <a:p>
            <a:pPr algn="ctr">
              <a:lnSpc>
                <a:spcPct val="100000"/>
              </a:lnSpc>
              <a:spcAft>
                <a:spcPts val="0"/>
              </a:spcAft>
            </a:pPr>
            <a:r>
              <a:rPr sz="1500" b="1">
                <a:solidFill>
                  <a:srgbClr val="4F46E5"/>
                </a:solidFill>
                <a:latin typeface="Arial"/>
              </a:rPr>
              <a:t>→</a:t>
            </a:r>
          </a:p>
        </p:txBody>
      </p:sp>
      <p:sp>
        <p:nvSpPr>
          <p:cNvPr id="10" name="Rectangle 9"/>
          <p:cNvSpPr/>
          <p:nvPr/>
        </p:nvSpPr>
        <p:spPr>
          <a:xfrm>
            <a:off x="2852928" y="1828800"/>
            <a:ext cx="1883664" cy="566928"/>
          </a:xfrm>
          <a:prstGeom prst="rect">
            <a:avLst/>
          </a:prstGeom>
          <a:solidFill>
            <a:srgbClr val="FFFFFF"/>
          </a:solidFill>
          <a:ln w="1524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2928" y="2002536"/>
            <a:ext cx="1883664" cy="274320"/>
          </a:xfrm>
          <a:prstGeom prst="rect">
            <a:avLst/>
          </a:prstGeom>
          <a:noFill/>
        </p:spPr>
        <p:txBody>
          <a:bodyPr wrap="square" anchor="t" lIns="0" rIns="0" tIns="0" bIns="0">
            <a:spAutoFit/>
          </a:bodyPr>
          <a:lstStyle/>
          <a:p>
            <a:pPr algn="ctr">
              <a:lnSpc>
                <a:spcPct val="100000"/>
              </a:lnSpc>
              <a:spcAft>
                <a:spcPts val="0"/>
              </a:spcAft>
            </a:pPr>
            <a:r>
              <a:rPr sz="1150" b="1">
                <a:solidFill>
                  <a:srgbClr val="0B1739"/>
                </a:solidFill>
                <a:latin typeface="Arial"/>
              </a:rPr>
              <a:t>classify</a:t>
            </a:r>
          </a:p>
        </p:txBody>
      </p:sp>
      <p:sp>
        <p:nvSpPr>
          <p:cNvPr id="12" name="TextBox 11"/>
          <p:cNvSpPr txBox="1"/>
          <p:nvPr/>
        </p:nvSpPr>
        <p:spPr>
          <a:xfrm>
            <a:off x="4736592" y="1984248"/>
            <a:ext cx="310896" cy="274320"/>
          </a:xfrm>
          <a:prstGeom prst="rect">
            <a:avLst/>
          </a:prstGeom>
          <a:noFill/>
        </p:spPr>
        <p:txBody>
          <a:bodyPr wrap="square" anchor="t" lIns="0" rIns="0" tIns="0" bIns="0">
            <a:spAutoFit/>
          </a:bodyPr>
          <a:lstStyle/>
          <a:p>
            <a:pPr algn="ctr">
              <a:lnSpc>
                <a:spcPct val="100000"/>
              </a:lnSpc>
              <a:spcAft>
                <a:spcPts val="0"/>
              </a:spcAft>
            </a:pPr>
            <a:r>
              <a:rPr sz="1500" b="1">
                <a:solidFill>
                  <a:srgbClr val="4F46E5"/>
                </a:solidFill>
                <a:latin typeface="Arial"/>
              </a:rPr>
              <a:t>→</a:t>
            </a:r>
          </a:p>
        </p:txBody>
      </p:sp>
      <p:sp>
        <p:nvSpPr>
          <p:cNvPr id="13" name="Rectangle 12"/>
          <p:cNvSpPr/>
          <p:nvPr/>
        </p:nvSpPr>
        <p:spPr>
          <a:xfrm>
            <a:off x="5047488" y="1828800"/>
            <a:ext cx="1883664" cy="566928"/>
          </a:xfrm>
          <a:prstGeom prst="rect">
            <a:avLst/>
          </a:prstGeom>
          <a:solidFill>
            <a:srgbClr val="FFFFFF"/>
          </a:solidFill>
          <a:ln w="1524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47488" y="2002536"/>
            <a:ext cx="1883664" cy="274320"/>
          </a:xfrm>
          <a:prstGeom prst="rect">
            <a:avLst/>
          </a:prstGeom>
          <a:noFill/>
        </p:spPr>
        <p:txBody>
          <a:bodyPr wrap="square" anchor="t" lIns="0" rIns="0" tIns="0" bIns="0">
            <a:spAutoFit/>
          </a:bodyPr>
          <a:lstStyle/>
          <a:p>
            <a:pPr algn="ctr">
              <a:lnSpc>
                <a:spcPct val="100000"/>
              </a:lnSpc>
              <a:spcAft>
                <a:spcPts val="0"/>
              </a:spcAft>
            </a:pPr>
            <a:r>
              <a:rPr sz="1150" b="1">
                <a:solidFill>
                  <a:srgbClr val="0B1739"/>
                </a:solidFill>
                <a:latin typeface="Arial"/>
              </a:rPr>
              <a:t>risk_guard</a:t>
            </a:r>
          </a:p>
        </p:txBody>
      </p:sp>
      <p:sp>
        <p:nvSpPr>
          <p:cNvPr id="15" name="TextBox 14"/>
          <p:cNvSpPr txBox="1"/>
          <p:nvPr/>
        </p:nvSpPr>
        <p:spPr>
          <a:xfrm>
            <a:off x="6931152" y="1984248"/>
            <a:ext cx="310896" cy="274320"/>
          </a:xfrm>
          <a:prstGeom prst="rect">
            <a:avLst/>
          </a:prstGeom>
          <a:noFill/>
        </p:spPr>
        <p:txBody>
          <a:bodyPr wrap="square" anchor="t" lIns="0" rIns="0" tIns="0" bIns="0">
            <a:spAutoFit/>
          </a:bodyPr>
          <a:lstStyle/>
          <a:p>
            <a:pPr algn="ctr">
              <a:lnSpc>
                <a:spcPct val="100000"/>
              </a:lnSpc>
              <a:spcAft>
                <a:spcPts val="0"/>
              </a:spcAft>
            </a:pPr>
            <a:r>
              <a:rPr sz="1500" b="1">
                <a:solidFill>
                  <a:srgbClr val="4F46E5"/>
                </a:solidFill>
                <a:latin typeface="Arial"/>
              </a:rPr>
              <a:t>→</a:t>
            </a:r>
          </a:p>
        </p:txBody>
      </p:sp>
      <p:sp>
        <p:nvSpPr>
          <p:cNvPr id="16" name="Rectangle 15"/>
          <p:cNvSpPr/>
          <p:nvPr/>
        </p:nvSpPr>
        <p:spPr>
          <a:xfrm>
            <a:off x="7242048" y="1828800"/>
            <a:ext cx="1883664" cy="566928"/>
          </a:xfrm>
          <a:prstGeom prst="rect">
            <a:avLst/>
          </a:prstGeom>
          <a:solidFill>
            <a:srgbClr val="FFFFFF"/>
          </a:solidFill>
          <a:ln w="1524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002536"/>
            <a:ext cx="1883664" cy="274320"/>
          </a:xfrm>
          <a:prstGeom prst="rect">
            <a:avLst/>
          </a:prstGeom>
          <a:noFill/>
        </p:spPr>
        <p:txBody>
          <a:bodyPr wrap="square" anchor="t" lIns="0" rIns="0" tIns="0" bIns="0">
            <a:spAutoFit/>
          </a:bodyPr>
          <a:lstStyle/>
          <a:p>
            <a:pPr algn="ctr">
              <a:lnSpc>
                <a:spcPct val="100000"/>
              </a:lnSpc>
              <a:spcAft>
                <a:spcPts val="0"/>
              </a:spcAft>
            </a:pPr>
            <a:r>
              <a:rPr sz="1150" b="1">
                <a:solidFill>
                  <a:srgbClr val="0B1739"/>
                </a:solidFill>
                <a:latin typeface="Arial"/>
              </a:rPr>
              <a:t>kb_search_mcp</a:t>
            </a:r>
          </a:p>
        </p:txBody>
      </p:sp>
      <p:sp>
        <p:nvSpPr>
          <p:cNvPr id="18" name="TextBox 17"/>
          <p:cNvSpPr txBox="1"/>
          <p:nvPr/>
        </p:nvSpPr>
        <p:spPr>
          <a:xfrm>
            <a:off x="9125712" y="1984248"/>
            <a:ext cx="310896" cy="274320"/>
          </a:xfrm>
          <a:prstGeom prst="rect">
            <a:avLst/>
          </a:prstGeom>
          <a:noFill/>
        </p:spPr>
        <p:txBody>
          <a:bodyPr wrap="square" anchor="t" lIns="0" rIns="0" tIns="0" bIns="0">
            <a:spAutoFit/>
          </a:bodyPr>
          <a:lstStyle/>
          <a:p>
            <a:pPr algn="ctr">
              <a:lnSpc>
                <a:spcPct val="100000"/>
              </a:lnSpc>
              <a:spcAft>
                <a:spcPts val="0"/>
              </a:spcAft>
            </a:pPr>
            <a:r>
              <a:rPr sz="1500" b="1">
                <a:solidFill>
                  <a:srgbClr val="4F46E5"/>
                </a:solidFill>
                <a:latin typeface="Arial"/>
              </a:rPr>
              <a:t>→</a:t>
            </a:r>
          </a:p>
        </p:txBody>
      </p:sp>
      <p:sp>
        <p:nvSpPr>
          <p:cNvPr id="19" name="Rectangle 18"/>
          <p:cNvSpPr/>
          <p:nvPr/>
        </p:nvSpPr>
        <p:spPr>
          <a:xfrm>
            <a:off x="9436608" y="1828800"/>
            <a:ext cx="1883664" cy="566928"/>
          </a:xfrm>
          <a:prstGeom prst="rect">
            <a:avLst/>
          </a:prstGeom>
          <a:solidFill>
            <a:srgbClr val="FFFFFF"/>
          </a:solidFill>
          <a:ln w="1524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36608" y="2002536"/>
            <a:ext cx="1883664" cy="274320"/>
          </a:xfrm>
          <a:prstGeom prst="rect">
            <a:avLst/>
          </a:prstGeom>
          <a:noFill/>
        </p:spPr>
        <p:txBody>
          <a:bodyPr wrap="square" anchor="t" lIns="0" rIns="0" tIns="0" bIns="0">
            <a:spAutoFit/>
          </a:bodyPr>
          <a:lstStyle/>
          <a:p>
            <a:pPr algn="ctr">
              <a:lnSpc>
                <a:spcPct val="100000"/>
              </a:lnSpc>
              <a:spcAft>
                <a:spcPts val="0"/>
              </a:spcAft>
            </a:pPr>
            <a:r>
              <a:rPr sz="1150" b="1">
                <a:solidFill>
                  <a:srgbClr val="0B1739"/>
                </a:solidFill>
                <a:latin typeface="Arial"/>
              </a:rPr>
              <a:t>decide</a:t>
            </a:r>
          </a:p>
        </p:txBody>
      </p:sp>
      <p:sp>
        <p:nvSpPr>
          <p:cNvPr id="21" name="Rectangle 20"/>
          <p:cNvSpPr/>
          <p:nvPr/>
        </p:nvSpPr>
        <p:spPr>
          <a:xfrm>
            <a:off x="4114800" y="2761488"/>
            <a:ext cx="1755648" cy="402336"/>
          </a:xfrm>
          <a:prstGeom prst="rect">
            <a:avLst/>
          </a:prstGeom>
          <a:solidFill>
            <a:srgbClr val="087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0" y="2811780"/>
            <a:ext cx="1755648" cy="402336"/>
          </a:xfrm>
          <a:prstGeom prst="rect">
            <a:avLst/>
          </a:prstGeom>
          <a:noFill/>
        </p:spPr>
        <p:txBody>
          <a:bodyPr wrap="square" anchor="t" lIns="0" rIns="0" tIns="0" bIns="0">
            <a:spAutoFit/>
          </a:bodyPr>
          <a:lstStyle/>
          <a:p>
            <a:pPr algn="ctr">
              <a:lnSpc>
                <a:spcPct val="100000"/>
              </a:lnSpc>
              <a:spcAft>
                <a:spcPts val="0"/>
              </a:spcAft>
            </a:pPr>
            <a:r>
              <a:rPr sz="1050" b="1">
                <a:solidFill>
                  <a:srgbClr val="FFFFFF"/>
                </a:solidFill>
                <a:latin typeface="Arial"/>
              </a:rPr>
              <a:t>AUTO_RESOLVE</a:t>
            </a:r>
          </a:p>
        </p:txBody>
      </p:sp>
      <p:sp>
        <p:nvSpPr>
          <p:cNvPr id="23" name="TextBox 22"/>
          <p:cNvSpPr txBox="1"/>
          <p:nvPr/>
        </p:nvSpPr>
        <p:spPr>
          <a:xfrm>
            <a:off x="6089904" y="2852928"/>
            <a:ext cx="5120640" cy="310896"/>
          </a:xfrm>
          <a:prstGeom prst="rect">
            <a:avLst/>
          </a:prstGeom>
          <a:noFill/>
        </p:spPr>
        <p:txBody>
          <a:bodyPr wrap="square" anchor="t" lIns="0" rIns="0" tIns="0" bIns="0">
            <a:spAutoFit/>
          </a:bodyPr>
          <a:lstStyle/>
          <a:p>
            <a:pPr algn="l">
              <a:lnSpc>
                <a:spcPct val="100000"/>
              </a:lnSpc>
              <a:spcAft>
                <a:spcPts val="0"/>
              </a:spcAft>
            </a:pPr>
            <a:r>
              <a:rPr sz="1150" b="0">
                <a:solidFill>
                  <a:srgbClr val="596579"/>
                </a:solidFill>
                <a:latin typeface="Arial"/>
              </a:rPr>
              <a:t>draft_resolution → validate_grounding</a:t>
            </a:r>
          </a:p>
        </p:txBody>
      </p:sp>
      <p:sp>
        <p:nvSpPr>
          <p:cNvPr id="24" name="Rectangle 23"/>
          <p:cNvSpPr/>
          <p:nvPr/>
        </p:nvSpPr>
        <p:spPr>
          <a:xfrm>
            <a:off x="4114800" y="3328416"/>
            <a:ext cx="1755648" cy="402336"/>
          </a:xfrm>
          <a:prstGeom prst="rect">
            <a:avLst/>
          </a:prstGeom>
          <a:solidFill>
            <a:srgbClr val="9A6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0" y="3378708"/>
            <a:ext cx="1755648" cy="402336"/>
          </a:xfrm>
          <a:prstGeom prst="rect">
            <a:avLst/>
          </a:prstGeom>
          <a:noFill/>
        </p:spPr>
        <p:txBody>
          <a:bodyPr wrap="square" anchor="t" lIns="0" rIns="0" tIns="0" bIns="0">
            <a:spAutoFit/>
          </a:bodyPr>
          <a:lstStyle/>
          <a:p>
            <a:pPr algn="ctr">
              <a:lnSpc>
                <a:spcPct val="100000"/>
              </a:lnSpc>
              <a:spcAft>
                <a:spcPts val="0"/>
              </a:spcAft>
            </a:pPr>
            <a:r>
              <a:rPr sz="1050" b="1">
                <a:solidFill>
                  <a:srgbClr val="FFFFFF"/>
                </a:solidFill>
                <a:latin typeface="Arial"/>
              </a:rPr>
              <a:t>CLARIFY</a:t>
            </a:r>
          </a:p>
        </p:txBody>
      </p:sp>
      <p:sp>
        <p:nvSpPr>
          <p:cNvPr id="26" name="TextBox 25"/>
          <p:cNvSpPr txBox="1"/>
          <p:nvPr/>
        </p:nvSpPr>
        <p:spPr>
          <a:xfrm>
            <a:off x="6089904" y="3419856"/>
            <a:ext cx="5120640" cy="310896"/>
          </a:xfrm>
          <a:prstGeom prst="rect">
            <a:avLst/>
          </a:prstGeom>
          <a:noFill/>
        </p:spPr>
        <p:txBody>
          <a:bodyPr wrap="square" anchor="t" lIns="0" rIns="0" tIns="0" bIns="0">
            <a:spAutoFit/>
          </a:bodyPr>
          <a:lstStyle/>
          <a:p>
            <a:pPr algn="l">
              <a:lnSpc>
                <a:spcPct val="100000"/>
              </a:lnSpc>
              <a:spcAft>
                <a:spcPts val="0"/>
              </a:spcAft>
            </a:pPr>
            <a:r>
              <a:rPr sz="1150" b="0">
                <a:solidFill>
                  <a:srgbClr val="596579"/>
                </a:solidFill>
                <a:latin typeface="Arial"/>
              </a:rPr>
              <a:t>draft_clarification</a:t>
            </a:r>
          </a:p>
        </p:txBody>
      </p:sp>
      <p:sp>
        <p:nvSpPr>
          <p:cNvPr id="27" name="Rectangle 26"/>
          <p:cNvSpPr/>
          <p:nvPr/>
        </p:nvSpPr>
        <p:spPr>
          <a:xfrm>
            <a:off x="4114800" y="3895344"/>
            <a:ext cx="1755648" cy="402336"/>
          </a:xfrm>
          <a:prstGeom prst="rect">
            <a:avLst/>
          </a:prstGeom>
          <a:solidFill>
            <a:srgbClr val="BD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0" y="3945636"/>
            <a:ext cx="1755648" cy="402336"/>
          </a:xfrm>
          <a:prstGeom prst="rect">
            <a:avLst/>
          </a:prstGeom>
          <a:noFill/>
        </p:spPr>
        <p:txBody>
          <a:bodyPr wrap="square" anchor="t" lIns="0" rIns="0" tIns="0" bIns="0">
            <a:spAutoFit/>
          </a:bodyPr>
          <a:lstStyle/>
          <a:p>
            <a:pPr algn="ctr">
              <a:lnSpc>
                <a:spcPct val="100000"/>
              </a:lnSpc>
              <a:spcAft>
                <a:spcPts val="0"/>
              </a:spcAft>
            </a:pPr>
            <a:r>
              <a:rPr sz="1050" b="1">
                <a:solidFill>
                  <a:srgbClr val="FFFFFF"/>
                </a:solidFill>
                <a:latin typeface="Arial"/>
              </a:rPr>
              <a:t>ESCALATE</a:t>
            </a:r>
          </a:p>
        </p:txBody>
      </p:sp>
      <p:sp>
        <p:nvSpPr>
          <p:cNvPr id="29" name="TextBox 28"/>
          <p:cNvSpPr txBox="1"/>
          <p:nvPr/>
        </p:nvSpPr>
        <p:spPr>
          <a:xfrm>
            <a:off x="6089904" y="3986784"/>
            <a:ext cx="5120640" cy="310896"/>
          </a:xfrm>
          <a:prstGeom prst="rect">
            <a:avLst/>
          </a:prstGeom>
          <a:noFill/>
        </p:spPr>
        <p:txBody>
          <a:bodyPr wrap="square" anchor="t" lIns="0" rIns="0" tIns="0" bIns="0">
            <a:spAutoFit/>
          </a:bodyPr>
          <a:lstStyle/>
          <a:p>
            <a:pPr algn="l">
              <a:lnSpc>
                <a:spcPct val="100000"/>
              </a:lnSpc>
              <a:spcAft>
                <a:spcPts val="0"/>
              </a:spcAft>
            </a:pPr>
            <a:r>
              <a:rPr sz="1150" b="0">
                <a:solidFill>
                  <a:srgbClr val="596579"/>
                </a:solidFill>
                <a:latin typeface="Arial"/>
              </a:rPr>
              <a:t>create_escalation</a:t>
            </a:r>
          </a:p>
        </p:txBody>
      </p:sp>
      <p:sp>
        <p:nvSpPr>
          <p:cNvPr id="30" name="Rectangle 29"/>
          <p:cNvSpPr/>
          <p:nvPr/>
        </p:nvSpPr>
        <p:spPr>
          <a:xfrm>
            <a:off x="4114800" y="4553712"/>
            <a:ext cx="1755648" cy="402336"/>
          </a:xfrm>
          <a:prstGeom prst="rect">
            <a:avLst/>
          </a:prstGeom>
          <a:solidFill>
            <a:srgbClr val="0B1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0" y="4636008"/>
            <a:ext cx="175564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Arial"/>
              </a:rPr>
              <a:t>observe</a:t>
            </a:r>
          </a:p>
        </p:txBody>
      </p:sp>
      <p:sp>
        <p:nvSpPr>
          <p:cNvPr id="32" name="TextBox 31"/>
          <p:cNvSpPr txBox="1"/>
          <p:nvPr/>
        </p:nvSpPr>
        <p:spPr>
          <a:xfrm>
            <a:off x="6089904" y="4645152"/>
            <a:ext cx="5120640" cy="310896"/>
          </a:xfrm>
          <a:prstGeom prst="rect">
            <a:avLst/>
          </a:prstGeom>
          <a:noFill/>
        </p:spPr>
        <p:txBody>
          <a:bodyPr wrap="square" anchor="t" lIns="0" rIns="0" tIns="0" bIns="0">
            <a:spAutoFit/>
          </a:bodyPr>
          <a:lstStyle/>
          <a:p>
            <a:pPr algn="l">
              <a:lnSpc>
                <a:spcPct val="100000"/>
              </a:lnSpc>
              <a:spcAft>
                <a:spcPts val="0"/>
              </a:spcAft>
            </a:pPr>
            <a:r>
              <a:rPr sz="1150" b="0">
                <a:solidFill>
                  <a:srgbClr val="596579"/>
                </a:solidFill>
                <a:latin typeface="Arial"/>
              </a:rPr>
              <a:t>closes the trace and records the outcome</a:t>
            </a:r>
          </a:p>
        </p:txBody>
      </p:sp>
      <p:sp>
        <p:nvSpPr>
          <p:cNvPr id="33" name="TextBox 32"/>
          <p:cNvSpPr txBox="1"/>
          <p:nvPr/>
        </p:nvSpPr>
        <p:spPr>
          <a:xfrm>
            <a:off x="658368" y="5285232"/>
            <a:ext cx="10881360" cy="731520"/>
          </a:xfrm>
          <a:prstGeom prst="rect">
            <a:avLst/>
          </a:prstGeom>
          <a:noFill/>
        </p:spPr>
        <p:txBody>
          <a:bodyPr wrap="square" anchor="t" lIns="0" rIns="0" tIns="0" bIns="0">
            <a:spAutoFit/>
          </a:bodyPr>
          <a:lstStyle/>
          <a:p>
            <a:pPr algn="l">
              <a:lnSpc>
                <a:spcPct val="120000"/>
              </a:lnSpc>
              <a:spcAft>
                <a:spcPts val="0"/>
              </a:spcAft>
            </a:pPr>
            <a:r>
              <a:rPr sz="1250" b="0">
                <a:solidFill>
                  <a:srgbClr val="172033"/>
                </a:solidFill>
                <a:latin typeface="Arial"/>
              </a:rPr>
              <a:t>Every node appends a typed TraceEvent — timestamp, measured duration, status, and its evidence. The dashboard renders those recorded facts, never hidden chain-of-thought.</a:t>
            </a:r>
          </a:p>
        </p:txBody>
      </p:sp>
      <p:sp>
        <p:nvSpPr>
          <p:cNvPr id="34" name="TextBox 33"/>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35" name="TextBox 34"/>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PIPELINE · 1 OF 3 — INGEST</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How knowledge gets in</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3456432" cy="137160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828800"/>
            <a:ext cx="45720" cy="13716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011680"/>
            <a:ext cx="365760" cy="274320"/>
          </a:xfrm>
          <a:prstGeom prst="rect">
            <a:avLst/>
          </a:prstGeom>
          <a:noFill/>
        </p:spPr>
        <p:txBody>
          <a:bodyPr wrap="square" anchor="t" lIns="0" rIns="0" tIns="0" bIns="0">
            <a:spAutoFit/>
          </a:bodyPr>
          <a:lstStyle/>
          <a:p>
            <a:pPr algn="l">
              <a:lnSpc>
                <a:spcPct val="100000"/>
              </a:lnSpc>
              <a:spcAft>
                <a:spcPts val="0"/>
              </a:spcAft>
            </a:pPr>
            <a:r>
              <a:rPr sz="1200" b="1">
                <a:solidFill>
                  <a:srgbClr val="4F46E5"/>
                </a:solidFill>
                <a:latin typeface="Arial"/>
              </a:rPr>
              <a:t>1</a:t>
            </a:r>
          </a:p>
        </p:txBody>
      </p:sp>
      <p:sp>
        <p:nvSpPr>
          <p:cNvPr id="10" name="TextBox 9"/>
          <p:cNvSpPr txBox="1"/>
          <p:nvPr/>
        </p:nvSpPr>
        <p:spPr>
          <a:xfrm>
            <a:off x="1261872" y="2002536"/>
            <a:ext cx="2651760" cy="274320"/>
          </a:xfrm>
          <a:prstGeom prst="rect">
            <a:avLst/>
          </a:prstGeom>
          <a:noFill/>
        </p:spPr>
        <p:txBody>
          <a:bodyPr wrap="square" anchor="t" lIns="0" rIns="0" tIns="0" bIns="0">
            <a:spAutoFit/>
          </a:bodyPr>
          <a:lstStyle/>
          <a:p>
            <a:pPr algn="l">
              <a:lnSpc>
                <a:spcPct val="100000"/>
              </a:lnSpc>
              <a:spcAft>
                <a:spcPts val="0"/>
              </a:spcAft>
            </a:pPr>
            <a:r>
              <a:rPr sz="1300" b="1">
                <a:solidFill>
                  <a:srgbClr val="0B1739"/>
                </a:solidFill>
                <a:latin typeface="Arial"/>
              </a:rPr>
              <a:t>Upload</a:t>
            </a:r>
          </a:p>
        </p:txBody>
      </p:sp>
      <p:sp>
        <p:nvSpPr>
          <p:cNvPr id="11" name="TextBox 10"/>
          <p:cNvSpPr txBox="1"/>
          <p:nvPr/>
        </p:nvSpPr>
        <p:spPr>
          <a:xfrm>
            <a:off x="896112" y="2359152"/>
            <a:ext cx="3017520" cy="786384"/>
          </a:xfrm>
          <a:prstGeom prst="rect">
            <a:avLst/>
          </a:prstGeom>
          <a:noFill/>
        </p:spPr>
        <p:txBody>
          <a:bodyPr wrap="square" anchor="t" lIns="0" rIns="0" tIns="0" bIns="0">
            <a:spAutoFit/>
          </a:bodyPr>
          <a:lstStyle/>
          <a:p>
            <a:pPr algn="l">
              <a:lnSpc>
                <a:spcPct val="114000"/>
              </a:lnSpc>
              <a:spcAft>
                <a:spcPts val="0"/>
              </a:spcAft>
            </a:pPr>
            <a:r>
              <a:rPr sz="1050" b="0">
                <a:solidFill>
                  <a:srgbClr val="596579"/>
                </a:solidFill>
                <a:latin typeface="Arial"/>
              </a:rPr>
              <a:t>PDF, Markdown, text, or CSV. A 30-article company example ships with the app.</a:t>
            </a:r>
          </a:p>
        </p:txBody>
      </p:sp>
      <p:sp>
        <p:nvSpPr>
          <p:cNvPr id="12" name="Rectangle 11"/>
          <p:cNvSpPr/>
          <p:nvPr/>
        </p:nvSpPr>
        <p:spPr>
          <a:xfrm>
            <a:off x="4315968" y="1828800"/>
            <a:ext cx="3456432" cy="137160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45720" cy="13716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2011680"/>
            <a:ext cx="365760" cy="274320"/>
          </a:xfrm>
          <a:prstGeom prst="rect">
            <a:avLst/>
          </a:prstGeom>
          <a:noFill/>
        </p:spPr>
        <p:txBody>
          <a:bodyPr wrap="square" anchor="t" lIns="0" rIns="0" tIns="0" bIns="0">
            <a:spAutoFit/>
          </a:bodyPr>
          <a:lstStyle/>
          <a:p>
            <a:pPr algn="l">
              <a:lnSpc>
                <a:spcPct val="100000"/>
              </a:lnSpc>
              <a:spcAft>
                <a:spcPts val="0"/>
              </a:spcAft>
            </a:pPr>
            <a:r>
              <a:rPr sz="1200" b="1">
                <a:solidFill>
                  <a:srgbClr val="4F46E5"/>
                </a:solidFill>
                <a:latin typeface="Arial"/>
              </a:rPr>
              <a:t>2</a:t>
            </a:r>
          </a:p>
        </p:txBody>
      </p:sp>
      <p:sp>
        <p:nvSpPr>
          <p:cNvPr id="15" name="TextBox 14"/>
          <p:cNvSpPr txBox="1"/>
          <p:nvPr/>
        </p:nvSpPr>
        <p:spPr>
          <a:xfrm>
            <a:off x="4919472" y="2002536"/>
            <a:ext cx="2651760" cy="274320"/>
          </a:xfrm>
          <a:prstGeom prst="rect">
            <a:avLst/>
          </a:prstGeom>
          <a:noFill/>
        </p:spPr>
        <p:txBody>
          <a:bodyPr wrap="square" anchor="t" lIns="0" rIns="0" tIns="0" bIns="0">
            <a:spAutoFit/>
          </a:bodyPr>
          <a:lstStyle/>
          <a:p>
            <a:pPr algn="l">
              <a:lnSpc>
                <a:spcPct val="100000"/>
              </a:lnSpc>
              <a:spcAft>
                <a:spcPts val="0"/>
              </a:spcAft>
            </a:pPr>
            <a:r>
              <a:rPr sz="1300" b="1">
                <a:solidFill>
                  <a:srgbClr val="0B1739"/>
                </a:solidFill>
                <a:latin typeface="Arial"/>
              </a:rPr>
              <a:t>Chunk</a:t>
            </a:r>
          </a:p>
        </p:txBody>
      </p:sp>
      <p:sp>
        <p:nvSpPr>
          <p:cNvPr id="16" name="TextBox 15"/>
          <p:cNvSpPr txBox="1"/>
          <p:nvPr/>
        </p:nvSpPr>
        <p:spPr>
          <a:xfrm>
            <a:off x="4553712" y="2359152"/>
            <a:ext cx="3017520" cy="786384"/>
          </a:xfrm>
          <a:prstGeom prst="rect">
            <a:avLst/>
          </a:prstGeom>
          <a:noFill/>
        </p:spPr>
        <p:txBody>
          <a:bodyPr wrap="square" anchor="t" lIns="0" rIns="0" tIns="0" bIns="0">
            <a:spAutoFit/>
          </a:bodyPr>
          <a:lstStyle/>
          <a:p>
            <a:pPr algn="l">
              <a:lnSpc>
                <a:spcPct val="114000"/>
              </a:lnSpc>
              <a:spcAft>
                <a:spcPts val="0"/>
              </a:spcAft>
            </a:pPr>
            <a:r>
              <a:rPr sz="1050" b="0">
                <a:solidFill>
                  <a:srgbClr val="596579"/>
                </a:solidFill>
                <a:latin typeface="Arial"/>
              </a:rPr>
              <a:t>Split into sections. Optional per-section Category: labels keep billing, technical, and account tags intact in mixed files.</a:t>
            </a:r>
          </a:p>
        </p:txBody>
      </p:sp>
      <p:sp>
        <p:nvSpPr>
          <p:cNvPr id="17" name="Rectangle 16"/>
          <p:cNvSpPr/>
          <p:nvPr/>
        </p:nvSpPr>
        <p:spPr>
          <a:xfrm>
            <a:off x="7973568" y="1828800"/>
            <a:ext cx="3456432" cy="137160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73568" y="1828800"/>
            <a:ext cx="45720" cy="13716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2011680"/>
            <a:ext cx="365760" cy="274320"/>
          </a:xfrm>
          <a:prstGeom prst="rect">
            <a:avLst/>
          </a:prstGeom>
          <a:noFill/>
        </p:spPr>
        <p:txBody>
          <a:bodyPr wrap="square" anchor="t" lIns="0" rIns="0" tIns="0" bIns="0">
            <a:spAutoFit/>
          </a:bodyPr>
          <a:lstStyle/>
          <a:p>
            <a:pPr algn="l">
              <a:lnSpc>
                <a:spcPct val="100000"/>
              </a:lnSpc>
              <a:spcAft>
                <a:spcPts val="0"/>
              </a:spcAft>
            </a:pPr>
            <a:r>
              <a:rPr sz="1200" b="1">
                <a:solidFill>
                  <a:srgbClr val="4F46E5"/>
                </a:solidFill>
                <a:latin typeface="Arial"/>
              </a:rPr>
              <a:t>3</a:t>
            </a:r>
          </a:p>
        </p:txBody>
      </p:sp>
      <p:sp>
        <p:nvSpPr>
          <p:cNvPr id="20" name="TextBox 19"/>
          <p:cNvSpPr txBox="1"/>
          <p:nvPr/>
        </p:nvSpPr>
        <p:spPr>
          <a:xfrm>
            <a:off x="8577072" y="2002536"/>
            <a:ext cx="2651760" cy="274320"/>
          </a:xfrm>
          <a:prstGeom prst="rect">
            <a:avLst/>
          </a:prstGeom>
          <a:noFill/>
        </p:spPr>
        <p:txBody>
          <a:bodyPr wrap="square" anchor="t" lIns="0" rIns="0" tIns="0" bIns="0">
            <a:spAutoFit/>
          </a:bodyPr>
          <a:lstStyle/>
          <a:p>
            <a:pPr algn="l">
              <a:lnSpc>
                <a:spcPct val="100000"/>
              </a:lnSpc>
              <a:spcAft>
                <a:spcPts val="0"/>
              </a:spcAft>
            </a:pPr>
            <a:r>
              <a:rPr sz="1300" b="1">
                <a:solidFill>
                  <a:srgbClr val="0B1739"/>
                </a:solidFill>
                <a:latin typeface="Arial"/>
              </a:rPr>
              <a:t>Preview</a:t>
            </a:r>
          </a:p>
        </p:txBody>
      </p:sp>
      <p:sp>
        <p:nvSpPr>
          <p:cNvPr id="21" name="TextBox 20"/>
          <p:cNvSpPr txBox="1"/>
          <p:nvPr/>
        </p:nvSpPr>
        <p:spPr>
          <a:xfrm>
            <a:off x="8211312" y="2359152"/>
            <a:ext cx="3017520" cy="786384"/>
          </a:xfrm>
          <a:prstGeom prst="rect">
            <a:avLst/>
          </a:prstGeom>
          <a:noFill/>
        </p:spPr>
        <p:txBody>
          <a:bodyPr wrap="square" anchor="t" lIns="0" rIns="0" tIns="0" bIns="0">
            <a:spAutoFit/>
          </a:bodyPr>
          <a:lstStyle/>
          <a:p>
            <a:pPr algn="l">
              <a:lnSpc>
                <a:spcPct val="114000"/>
              </a:lnSpc>
              <a:spcAft>
                <a:spcPts val="0"/>
              </a:spcAft>
            </a:pPr>
            <a:r>
              <a:rPr sz="1050" b="0">
                <a:solidFill>
                  <a:srgbClr val="596579"/>
                </a:solidFill>
                <a:latin typeface="Arial"/>
              </a:rPr>
              <a:t>Extracted sections are shown before anything is indexed — nothing lands unseen.</a:t>
            </a:r>
          </a:p>
        </p:txBody>
      </p:sp>
      <p:sp>
        <p:nvSpPr>
          <p:cNvPr id="22" name="Rectangle 21"/>
          <p:cNvSpPr/>
          <p:nvPr/>
        </p:nvSpPr>
        <p:spPr>
          <a:xfrm>
            <a:off x="658368" y="3401568"/>
            <a:ext cx="3456432" cy="137160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401568"/>
            <a:ext cx="45720" cy="13716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84448"/>
            <a:ext cx="365760" cy="274320"/>
          </a:xfrm>
          <a:prstGeom prst="rect">
            <a:avLst/>
          </a:prstGeom>
          <a:noFill/>
        </p:spPr>
        <p:txBody>
          <a:bodyPr wrap="square" anchor="t" lIns="0" rIns="0" tIns="0" bIns="0">
            <a:spAutoFit/>
          </a:bodyPr>
          <a:lstStyle/>
          <a:p>
            <a:pPr algn="l">
              <a:lnSpc>
                <a:spcPct val="100000"/>
              </a:lnSpc>
              <a:spcAft>
                <a:spcPts val="0"/>
              </a:spcAft>
            </a:pPr>
            <a:r>
              <a:rPr sz="1200" b="1">
                <a:solidFill>
                  <a:srgbClr val="4F46E5"/>
                </a:solidFill>
                <a:latin typeface="Arial"/>
              </a:rPr>
              <a:t>4</a:t>
            </a:r>
          </a:p>
        </p:txBody>
      </p:sp>
      <p:sp>
        <p:nvSpPr>
          <p:cNvPr id="25" name="TextBox 24"/>
          <p:cNvSpPr txBox="1"/>
          <p:nvPr/>
        </p:nvSpPr>
        <p:spPr>
          <a:xfrm>
            <a:off x="1261872" y="3575304"/>
            <a:ext cx="2651760" cy="274320"/>
          </a:xfrm>
          <a:prstGeom prst="rect">
            <a:avLst/>
          </a:prstGeom>
          <a:noFill/>
        </p:spPr>
        <p:txBody>
          <a:bodyPr wrap="square" anchor="t" lIns="0" rIns="0" tIns="0" bIns="0">
            <a:spAutoFit/>
          </a:bodyPr>
          <a:lstStyle/>
          <a:p>
            <a:pPr algn="l">
              <a:lnSpc>
                <a:spcPct val="100000"/>
              </a:lnSpc>
              <a:spcAft>
                <a:spcPts val="0"/>
              </a:spcAft>
            </a:pPr>
            <a:r>
              <a:rPr sz="1300" b="1">
                <a:solidFill>
                  <a:srgbClr val="0B1739"/>
                </a:solidFill>
                <a:latin typeface="Arial"/>
              </a:rPr>
              <a:t>Persist</a:t>
            </a:r>
          </a:p>
        </p:txBody>
      </p:sp>
      <p:sp>
        <p:nvSpPr>
          <p:cNvPr id="26" name="TextBox 25"/>
          <p:cNvSpPr txBox="1"/>
          <p:nvPr/>
        </p:nvSpPr>
        <p:spPr>
          <a:xfrm>
            <a:off x="896112" y="3931920"/>
            <a:ext cx="3017520" cy="786384"/>
          </a:xfrm>
          <a:prstGeom prst="rect">
            <a:avLst/>
          </a:prstGeom>
          <a:noFill/>
        </p:spPr>
        <p:txBody>
          <a:bodyPr wrap="square" anchor="t" lIns="0" rIns="0" tIns="0" bIns="0">
            <a:spAutoFit/>
          </a:bodyPr>
          <a:lstStyle/>
          <a:p>
            <a:pPr algn="l">
              <a:lnSpc>
                <a:spcPct val="114000"/>
              </a:lnSpc>
              <a:spcAft>
                <a:spcPts val="0"/>
              </a:spcAft>
            </a:pPr>
            <a:r>
              <a:rPr sz="1050" b="0">
                <a:solidFill>
                  <a:srgbClr val="596579"/>
                </a:solidFill>
                <a:latin typeface="Arial"/>
              </a:rPr>
              <a:t>SQLite stores article text, metadata, provenance, and timestamps as the source of truth.</a:t>
            </a:r>
          </a:p>
        </p:txBody>
      </p:sp>
      <p:sp>
        <p:nvSpPr>
          <p:cNvPr id="27" name="Rectangle 26"/>
          <p:cNvSpPr/>
          <p:nvPr/>
        </p:nvSpPr>
        <p:spPr>
          <a:xfrm>
            <a:off x="4315968" y="3401568"/>
            <a:ext cx="3456432" cy="137160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15968" y="3401568"/>
            <a:ext cx="45720" cy="13716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53712" y="3584448"/>
            <a:ext cx="365760" cy="274320"/>
          </a:xfrm>
          <a:prstGeom prst="rect">
            <a:avLst/>
          </a:prstGeom>
          <a:noFill/>
        </p:spPr>
        <p:txBody>
          <a:bodyPr wrap="square" anchor="t" lIns="0" rIns="0" tIns="0" bIns="0">
            <a:spAutoFit/>
          </a:bodyPr>
          <a:lstStyle/>
          <a:p>
            <a:pPr algn="l">
              <a:lnSpc>
                <a:spcPct val="100000"/>
              </a:lnSpc>
              <a:spcAft>
                <a:spcPts val="0"/>
              </a:spcAft>
            </a:pPr>
            <a:r>
              <a:rPr sz="1200" b="1">
                <a:solidFill>
                  <a:srgbClr val="4F46E5"/>
                </a:solidFill>
                <a:latin typeface="Arial"/>
              </a:rPr>
              <a:t>5</a:t>
            </a:r>
          </a:p>
        </p:txBody>
      </p:sp>
      <p:sp>
        <p:nvSpPr>
          <p:cNvPr id="30" name="TextBox 29"/>
          <p:cNvSpPr txBox="1"/>
          <p:nvPr/>
        </p:nvSpPr>
        <p:spPr>
          <a:xfrm>
            <a:off x="4919472" y="3575304"/>
            <a:ext cx="2651760" cy="274320"/>
          </a:xfrm>
          <a:prstGeom prst="rect">
            <a:avLst/>
          </a:prstGeom>
          <a:noFill/>
        </p:spPr>
        <p:txBody>
          <a:bodyPr wrap="square" anchor="t" lIns="0" rIns="0" tIns="0" bIns="0">
            <a:spAutoFit/>
          </a:bodyPr>
          <a:lstStyle/>
          <a:p>
            <a:pPr algn="l">
              <a:lnSpc>
                <a:spcPct val="100000"/>
              </a:lnSpc>
              <a:spcAft>
                <a:spcPts val="0"/>
              </a:spcAft>
            </a:pPr>
            <a:r>
              <a:rPr sz="1300" b="1">
                <a:solidFill>
                  <a:srgbClr val="0B1739"/>
                </a:solidFill>
                <a:latin typeface="Arial"/>
              </a:rPr>
              <a:t>Embed</a:t>
            </a:r>
          </a:p>
        </p:txBody>
      </p:sp>
      <p:sp>
        <p:nvSpPr>
          <p:cNvPr id="31" name="TextBox 30"/>
          <p:cNvSpPr txBox="1"/>
          <p:nvPr/>
        </p:nvSpPr>
        <p:spPr>
          <a:xfrm>
            <a:off x="4553712" y="3931920"/>
            <a:ext cx="3017520" cy="786384"/>
          </a:xfrm>
          <a:prstGeom prst="rect">
            <a:avLst/>
          </a:prstGeom>
          <a:noFill/>
        </p:spPr>
        <p:txBody>
          <a:bodyPr wrap="square" anchor="t" lIns="0" rIns="0" tIns="0" bIns="0">
            <a:spAutoFit/>
          </a:bodyPr>
          <a:lstStyle/>
          <a:p>
            <a:pPr algn="l">
              <a:lnSpc>
                <a:spcPct val="114000"/>
              </a:lnSpc>
              <a:spcAft>
                <a:spcPts val="0"/>
              </a:spcAft>
            </a:pPr>
            <a:r>
              <a:rPr sz="1050" b="0">
                <a:solidFill>
                  <a:srgbClr val="596579"/>
                </a:solidFill>
                <a:latin typeface="Arial"/>
              </a:rPr>
              <a:t>OpenAI text-embedding-3-small produces 1536-dimensional dense vectors.</a:t>
            </a:r>
          </a:p>
        </p:txBody>
      </p:sp>
      <p:sp>
        <p:nvSpPr>
          <p:cNvPr id="32" name="Rectangle 31"/>
          <p:cNvSpPr/>
          <p:nvPr/>
        </p:nvSpPr>
        <p:spPr>
          <a:xfrm>
            <a:off x="7973568" y="3401568"/>
            <a:ext cx="3456432" cy="137160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73568" y="3401568"/>
            <a:ext cx="45720" cy="13716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11312" y="3584448"/>
            <a:ext cx="365760" cy="274320"/>
          </a:xfrm>
          <a:prstGeom prst="rect">
            <a:avLst/>
          </a:prstGeom>
          <a:noFill/>
        </p:spPr>
        <p:txBody>
          <a:bodyPr wrap="square" anchor="t" lIns="0" rIns="0" tIns="0" bIns="0">
            <a:spAutoFit/>
          </a:bodyPr>
          <a:lstStyle/>
          <a:p>
            <a:pPr algn="l">
              <a:lnSpc>
                <a:spcPct val="100000"/>
              </a:lnSpc>
              <a:spcAft>
                <a:spcPts val="0"/>
              </a:spcAft>
            </a:pPr>
            <a:r>
              <a:rPr sz="1200" b="1">
                <a:solidFill>
                  <a:srgbClr val="4F46E5"/>
                </a:solidFill>
                <a:latin typeface="Arial"/>
              </a:rPr>
              <a:t>6</a:t>
            </a:r>
          </a:p>
        </p:txBody>
      </p:sp>
      <p:sp>
        <p:nvSpPr>
          <p:cNvPr id="35" name="TextBox 34"/>
          <p:cNvSpPr txBox="1"/>
          <p:nvPr/>
        </p:nvSpPr>
        <p:spPr>
          <a:xfrm>
            <a:off x="8577072" y="3575304"/>
            <a:ext cx="2651760" cy="274320"/>
          </a:xfrm>
          <a:prstGeom prst="rect">
            <a:avLst/>
          </a:prstGeom>
          <a:noFill/>
        </p:spPr>
        <p:txBody>
          <a:bodyPr wrap="square" anchor="t" lIns="0" rIns="0" tIns="0" bIns="0">
            <a:spAutoFit/>
          </a:bodyPr>
          <a:lstStyle/>
          <a:p>
            <a:pPr algn="l">
              <a:lnSpc>
                <a:spcPct val="100000"/>
              </a:lnSpc>
              <a:spcAft>
                <a:spcPts val="0"/>
              </a:spcAft>
            </a:pPr>
            <a:r>
              <a:rPr sz="1300" b="1">
                <a:solidFill>
                  <a:srgbClr val="0B1739"/>
                </a:solidFill>
                <a:latin typeface="Arial"/>
              </a:rPr>
              <a:t>Index</a:t>
            </a:r>
          </a:p>
        </p:txBody>
      </p:sp>
      <p:sp>
        <p:nvSpPr>
          <p:cNvPr id="36" name="TextBox 35"/>
          <p:cNvSpPr txBox="1"/>
          <p:nvPr/>
        </p:nvSpPr>
        <p:spPr>
          <a:xfrm>
            <a:off x="8211312" y="3931920"/>
            <a:ext cx="3017520" cy="786384"/>
          </a:xfrm>
          <a:prstGeom prst="rect">
            <a:avLst/>
          </a:prstGeom>
          <a:noFill/>
        </p:spPr>
        <p:txBody>
          <a:bodyPr wrap="square" anchor="t" lIns="0" rIns="0" tIns="0" bIns="0">
            <a:spAutoFit/>
          </a:bodyPr>
          <a:lstStyle/>
          <a:p>
            <a:pPr algn="l">
              <a:lnSpc>
                <a:spcPct val="114000"/>
              </a:lnSpc>
              <a:spcAft>
                <a:spcPts val="0"/>
              </a:spcAft>
            </a:pPr>
            <a:r>
              <a:rPr sz="1050" b="0">
                <a:solidFill>
                  <a:srgbClr val="596579"/>
                </a:solidFill>
                <a:latin typeface="Arial"/>
              </a:rPr>
              <a:t>Vectors are written to Qdrant in local persistent mode.</a:t>
            </a:r>
          </a:p>
        </p:txBody>
      </p:sp>
      <p:sp>
        <p:nvSpPr>
          <p:cNvPr id="37" name="TextBox 36"/>
          <p:cNvSpPr txBox="1"/>
          <p:nvPr/>
        </p:nvSpPr>
        <p:spPr>
          <a:xfrm>
            <a:off x="658368" y="5138928"/>
            <a:ext cx="10881360" cy="731520"/>
          </a:xfrm>
          <a:prstGeom prst="rect">
            <a:avLst/>
          </a:prstGeom>
          <a:noFill/>
        </p:spPr>
        <p:txBody>
          <a:bodyPr wrap="square" anchor="t" lIns="0" rIns="0" tIns="0" bIns="0">
            <a:spAutoFit/>
          </a:bodyPr>
          <a:lstStyle/>
          <a:p>
            <a:pPr algn="l">
              <a:lnSpc>
                <a:spcPct val="120000"/>
              </a:lnSpc>
              <a:spcAft>
                <a:spcPts val="0"/>
              </a:spcAft>
            </a:pPr>
            <a:r>
              <a:rPr sz="1200" b="0">
                <a:solidFill>
                  <a:srgbClr val="172033"/>
                </a:solidFill>
                <a:latin typeface="Arial"/>
              </a:rPr>
              <a:t>Imports can append or fully replace. Clearing everything needs a typed confirmation, and the 15 starter articles restore separately.</a:t>
            </a:r>
          </a:p>
        </p:txBody>
      </p:sp>
      <p:sp>
        <p:nvSpPr>
          <p:cNvPr id="38" name="TextBox 37"/>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39" name="TextBox 38"/>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PIPELINE · 2 OF 3 — SEARCH</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Hybrid retrieval across a real MCP boundary</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5120640" cy="1060704"/>
          </a:xfrm>
          <a:prstGeom prst="rect">
            <a:avLst/>
          </a:prstGeom>
          <a:solidFill>
            <a:srgbClr val="0B1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011680"/>
            <a:ext cx="4754880" cy="274320"/>
          </a:xfrm>
          <a:prstGeom prst="rect">
            <a:avLst/>
          </a:prstGeom>
          <a:noFill/>
        </p:spPr>
        <p:txBody>
          <a:bodyPr wrap="square" anchor="t" lIns="0" rIns="0" tIns="0" bIns="0">
            <a:spAutoFit/>
          </a:bodyPr>
          <a:lstStyle/>
          <a:p>
            <a:pPr algn="l">
              <a:lnSpc>
                <a:spcPct val="100000"/>
              </a:lnSpc>
              <a:spcAft>
                <a:spcPts val="400"/>
              </a:spcAft>
            </a:pPr>
            <a:r>
              <a:rPr sz="1100" b="1">
                <a:solidFill>
                  <a:srgbClr val="B9C4FF"/>
                </a:solidFill>
                <a:latin typeface="Arial"/>
              </a:rPr>
              <a:t>The graph process</a:t>
            </a:r>
          </a:p>
        </p:txBody>
      </p:sp>
      <p:sp>
        <p:nvSpPr>
          <p:cNvPr id="9" name="TextBox 8"/>
          <p:cNvSpPr txBox="1"/>
          <p:nvPr/>
        </p:nvSpPr>
        <p:spPr>
          <a:xfrm>
            <a:off x="877824" y="2340864"/>
            <a:ext cx="4754880" cy="365760"/>
          </a:xfrm>
          <a:prstGeom prst="rect">
            <a:avLst/>
          </a:prstGeom>
          <a:noFill/>
        </p:spPr>
        <p:txBody>
          <a:bodyPr wrap="square" anchor="t" lIns="0" rIns="0" tIns="0" bIns="0">
            <a:spAutoFit/>
          </a:bodyPr>
          <a:lstStyle/>
          <a:p>
            <a:pPr algn="l">
              <a:lnSpc>
                <a:spcPct val="100000"/>
              </a:lnSpc>
              <a:spcAft>
                <a:spcPts val="0"/>
              </a:spcAft>
            </a:pPr>
            <a:r>
              <a:rPr sz="1200" b="1">
                <a:solidFill>
                  <a:srgbClr val="FFFFFF"/>
                </a:solidFill>
                <a:latin typeface="Arial"/>
              </a:rPr>
              <a:t>MCPClient  →  stdio  →  separate Python process</a:t>
            </a:r>
          </a:p>
        </p:txBody>
      </p:sp>
      <p:sp>
        <p:nvSpPr>
          <p:cNvPr id="10" name="TextBox 9"/>
          <p:cNvSpPr txBox="1"/>
          <p:nvPr/>
        </p:nvSpPr>
        <p:spPr>
          <a:xfrm>
            <a:off x="5943600" y="2212848"/>
            <a:ext cx="457200" cy="274320"/>
          </a:xfrm>
          <a:prstGeom prst="rect">
            <a:avLst/>
          </a:prstGeom>
          <a:noFill/>
        </p:spPr>
        <p:txBody>
          <a:bodyPr wrap="square" anchor="t" lIns="0" rIns="0" tIns="0" bIns="0">
            <a:spAutoFit/>
          </a:bodyPr>
          <a:lstStyle/>
          <a:p>
            <a:pPr algn="l">
              <a:lnSpc>
                <a:spcPct val="100000"/>
              </a:lnSpc>
              <a:spcAft>
                <a:spcPts val="0"/>
              </a:spcAft>
            </a:pPr>
            <a:r>
              <a:rPr sz="1700" b="1">
                <a:solidFill>
                  <a:srgbClr val="4F46E5"/>
                </a:solidFill>
                <a:latin typeface="Arial"/>
              </a:rPr>
              <a:t>→</a:t>
            </a:r>
          </a:p>
        </p:txBody>
      </p:sp>
      <p:sp>
        <p:nvSpPr>
          <p:cNvPr id="11" name="Rectangle 10"/>
          <p:cNvSpPr/>
          <p:nvPr/>
        </p:nvSpPr>
        <p:spPr>
          <a:xfrm>
            <a:off x="6492240" y="1828800"/>
            <a:ext cx="5029200" cy="1060704"/>
          </a:xfrm>
          <a:prstGeom prst="rect">
            <a:avLst/>
          </a:prstGeom>
          <a:solidFill>
            <a:srgbClr val="FFFFFF"/>
          </a:solidFill>
          <a:ln w="1778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11696" y="2011680"/>
            <a:ext cx="4572000" cy="274320"/>
          </a:xfrm>
          <a:prstGeom prst="rect">
            <a:avLst/>
          </a:prstGeom>
          <a:noFill/>
        </p:spPr>
        <p:txBody>
          <a:bodyPr wrap="square" anchor="t" lIns="0" rIns="0" tIns="0" bIns="0">
            <a:spAutoFit/>
          </a:bodyPr>
          <a:lstStyle/>
          <a:p>
            <a:pPr algn="l">
              <a:lnSpc>
                <a:spcPct val="100000"/>
              </a:lnSpc>
              <a:spcAft>
                <a:spcPts val="400"/>
              </a:spcAft>
            </a:pPr>
            <a:r>
              <a:rPr sz="1100" b="1">
                <a:solidFill>
                  <a:srgbClr val="4F46E5"/>
                </a:solidFill>
                <a:latin typeface="Arial"/>
              </a:rPr>
              <a:t>FastMCP server</a:t>
            </a:r>
          </a:p>
        </p:txBody>
      </p:sp>
      <p:sp>
        <p:nvSpPr>
          <p:cNvPr id="13" name="TextBox 12"/>
          <p:cNvSpPr txBox="1"/>
          <p:nvPr/>
        </p:nvSpPr>
        <p:spPr>
          <a:xfrm>
            <a:off x="6711696" y="2340864"/>
            <a:ext cx="4572000" cy="365760"/>
          </a:xfrm>
          <a:prstGeom prst="rect">
            <a:avLst/>
          </a:prstGeom>
          <a:noFill/>
        </p:spPr>
        <p:txBody>
          <a:bodyPr wrap="square" anchor="t" lIns="0" rIns="0" tIns="0" bIns="0">
            <a:spAutoFit/>
          </a:bodyPr>
          <a:lstStyle/>
          <a:p>
            <a:pPr algn="l">
              <a:lnSpc>
                <a:spcPct val="100000"/>
              </a:lnSpc>
              <a:spcAft>
                <a:spcPts val="0"/>
              </a:spcAft>
            </a:pPr>
            <a:r>
              <a:rPr sz="1150" b="1">
                <a:solidFill>
                  <a:srgbClr val="0B1739"/>
                </a:solidFill>
                <a:latin typeface="Arial"/>
              </a:rPr>
              <a:t>search_knowledge_base(query, category, top_k)</a:t>
            </a:r>
          </a:p>
        </p:txBody>
      </p:sp>
      <p:sp>
        <p:nvSpPr>
          <p:cNvPr id="14" name="TextBox 13"/>
          <p:cNvSpPr txBox="1"/>
          <p:nvPr/>
        </p:nvSpPr>
        <p:spPr>
          <a:xfrm>
            <a:off x="658368" y="3127248"/>
            <a:ext cx="10881360" cy="274320"/>
          </a:xfrm>
          <a:prstGeom prst="rect">
            <a:avLst/>
          </a:prstGeom>
          <a:noFill/>
        </p:spPr>
        <p:txBody>
          <a:bodyPr wrap="square" anchor="t" lIns="0" rIns="0" tIns="0" bIns="0">
            <a:spAutoFit/>
          </a:bodyPr>
          <a:lstStyle/>
          <a:p>
            <a:pPr algn="l">
              <a:lnSpc>
                <a:spcPct val="100000"/>
              </a:lnSpc>
              <a:spcAft>
                <a:spcPts val="0"/>
              </a:spcAft>
            </a:pPr>
            <a:r>
              <a:rPr sz="1200" b="0">
                <a:solidFill>
                  <a:srgbClr val="172033"/>
                </a:solidFill>
                <a:latin typeface="Arial"/>
              </a:rPr>
              <a:t>Inside the server, two retrievers build a candidate set, then one transparent rerank orders it:</a:t>
            </a:r>
          </a:p>
        </p:txBody>
      </p:sp>
      <p:sp>
        <p:nvSpPr>
          <p:cNvPr id="15" name="Rectangle 14"/>
          <p:cNvSpPr/>
          <p:nvPr/>
        </p:nvSpPr>
        <p:spPr>
          <a:xfrm>
            <a:off x="658368" y="3511296"/>
            <a:ext cx="3456432" cy="148132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511296"/>
            <a:ext cx="3456432"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3749040"/>
            <a:ext cx="3054096" cy="274320"/>
          </a:xfrm>
          <a:prstGeom prst="rect">
            <a:avLst/>
          </a:prstGeom>
          <a:noFill/>
        </p:spPr>
        <p:txBody>
          <a:bodyPr wrap="square" anchor="t" lIns="0" rIns="0" tIns="0" bIns="0">
            <a:spAutoFit/>
          </a:bodyPr>
          <a:lstStyle/>
          <a:p>
            <a:pPr algn="l">
              <a:lnSpc>
                <a:spcPct val="100000"/>
              </a:lnSpc>
              <a:spcAft>
                <a:spcPts val="400"/>
              </a:spcAft>
            </a:pPr>
            <a:r>
              <a:rPr sz="1300" b="1">
                <a:solidFill>
                  <a:srgbClr val="0B1739"/>
                </a:solidFill>
                <a:latin typeface="Arial"/>
              </a:rPr>
              <a:t>Dense</a:t>
            </a:r>
          </a:p>
        </p:txBody>
      </p:sp>
      <p:sp>
        <p:nvSpPr>
          <p:cNvPr id="18" name="TextBox 17"/>
          <p:cNvSpPr txBox="1"/>
          <p:nvPr/>
        </p:nvSpPr>
        <p:spPr>
          <a:xfrm>
            <a:off x="859536" y="4078224"/>
            <a:ext cx="3054096" cy="749808"/>
          </a:xfrm>
          <a:prstGeom prst="rect">
            <a:avLst/>
          </a:prstGeom>
          <a:noFill/>
        </p:spPr>
        <p:txBody>
          <a:bodyPr wrap="square" anchor="t" lIns="0" rIns="0" tIns="0" bIns="0">
            <a:spAutoFit/>
          </a:bodyPr>
          <a:lstStyle/>
          <a:p>
            <a:pPr algn="l">
              <a:lnSpc>
                <a:spcPct val="116000"/>
              </a:lnSpc>
              <a:spcAft>
                <a:spcPts val="0"/>
              </a:spcAft>
            </a:pPr>
            <a:r>
              <a:rPr sz="1100" b="0">
                <a:solidFill>
                  <a:srgbClr val="596579"/>
                </a:solidFill>
                <a:latin typeface="Arial"/>
              </a:rPr>
              <a:t>Qdrant cosine similarity over OpenAI embeddings — catches paraphrases that share no words.</a:t>
            </a:r>
          </a:p>
        </p:txBody>
      </p:sp>
      <p:sp>
        <p:nvSpPr>
          <p:cNvPr id="19" name="Rectangle 18"/>
          <p:cNvSpPr/>
          <p:nvPr/>
        </p:nvSpPr>
        <p:spPr>
          <a:xfrm>
            <a:off x="4315968" y="3511296"/>
            <a:ext cx="3456432" cy="148132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15968" y="3511296"/>
            <a:ext cx="3456432" cy="45720"/>
          </a:xfrm>
          <a:prstGeom prst="rect">
            <a:avLst/>
          </a:prstGeom>
          <a:solidFill>
            <a:srgbClr val="0E7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17136" y="3749040"/>
            <a:ext cx="3054096" cy="274320"/>
          </a:xfrm>
          <a:prstGeom prst="rect">
            <a:avLst/>
          </a:prstGeom>
          <a:noFill/>
        </p:spPr>
        <p:txBody>
          <a:bodyPr wrap="square" anchor="t" lIns="0" rIns="0" tIns="0" bIns="0">
            <a:spAutoFit/>
          </a:bodyPr>
          <a:lstStyle/>
          <a:p>
            <a:pPr algn="l">
              <a:lnSpc>
                <a:spcPct val="100000"/>
              </a:lnSpc>
              <a:spcAft>
                <a:spcPts val="400"/>
              </a:spcAft>
            </a:pPr>
            <a:r>
              <a:rPr sz="1300" b="1">
                <a:solidFill>
                  <a:srgbClr val="0B1739"/>
                </a:solidFill>
                <a:latin typeface="Arial"/>
              </a:rPr>
              <a:t>Lexical</a:t>
            </a:r>
          </a:p>
        </p:txBody>
      </p:sp>
      <p:sp>
        <p:nvSpPr>
          <p:cNvPr id="22" name="TextBox 21"/>
          <p:cNvSpPr txBox="1"/>
          <p:nvPr/>
        </p:nvSpPr>
        <p:spPr>
          <a:xfrm>
            <a:off x="4517136" y="4078224"/>
            <a:ext cx="3054096" cy="749808"/>
          </a:xfrm>
          <a:prstGeom prst="rect">
            <a:avLst/>
          </a:prstGeom>
          <a:noFill/>
        </p:spPr>
        <p:txBody>
          <a:bodyPr wrap="square" anchor="t" lIns="0" rIns="0" tIns="0" bIns="0">
            <a:spAutoFit/>
          </a:bodyPr>
          <a:lstStyle/>
          <a:p>
            <a:pPr algn="l">
              <a:lnSpc>
                <a:spcPct val="116000"/>
              </a:lnSpc>
              <a:spcAft>
                <a:spcPts val="0"/>
              </a:spcAft>
            </a:pPr>
            <a:r>
              <a:rPr sz="1100" b="0">
                <a:solidFill>
                  <a:srgbClr val="596579"/>
                </a:solidFill>
                <a:latin typeface="Arial"/>
              </a:rPr>
              <a:t>BM25 term relevance — catches exact codes and product names embeddings blur.</a:t>
            </a:r>
          </a:p>
        </p:txBody>
      </p:sp>
      <p:sp>
        <p:nvSpPr>
          <p:cNvPr id="23" name="Rectangle 22"/>
          <p:cNvSpPr/>
          <p:nvPr/>
        </p:nvSpPr>
        <p:spPr>
          <a:xfrm>
            <a:off x="7973568" y="3511296"/>
            <a:ext cx="3456432" cy="148132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73568" y="3511296"/>
            <a:ext cx="3456432" cy="45720"/>
          </a:xfrm>
          <a:prstGeom prst="rect">
            <a:avLst/>
          </a:prstGeom>
          <a:solidFill>
            <a:srgbClr val="087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74736" y="3749040"/>
            <a:ext cx="3054096" cy="274320"/>
          </a:xfrm>
          <a:prstGeom prst="rect">
            <a:avLst/>
          </a:prstGeom>
          <a:noFill/>
        </p:spPr>
        <p:txBody>
          <a:bodyPr wrap="square" anchor="t" lIns="0" rIns="0" tIns="0" bIns="0">
            <a:spAutoFit/>
          </a:bodyPr>
          <a:lstStyle/>
          <a:p>
            <a:pPr algn="l">
              <a:lnSpc>
                <a:spcPct val="100000"/>
              </a:lnSpc>
              <a:spcAft>
                <a:spcPts val="400"/>
              </a:spcAft>
            </a:pPr>
            <a:r>
              <a:rPr sz="1300" b="1">
                <a:solidFill>
                  <a:srgbClr val="0B1739"/>
                </a:solidFill>
                <a:latin typeface="Arial"/>
              </a:rPr>
              <a:t>Rerank</a:t>
            </a:r>
          </a:p>
        </p:txBody>
      </p:sp>
      <p:sp>
        <p:nvSpPr>
          <p:cNvPr id="26" name="TextBox 25"/>
          <p:cNvSpPr txBox="1"/>
          <p:nvPr/>
        </p:nvSpPr>
        <p:spPr>
          <a:xfrm>
            <a:off x="8174736" y="4078224"/>
            <a:ext cx="3054096" cy="749808"/>
          </a:xfrm>
          <a:prstGeom prst="rect">
            <a:avLst/>
          </a:prstGeom>
          <a:noFill/>
        </p:spPr>
        <p:txBody>
          <a:bodyPr wrap="square" anchor="t" lIns="0" rIns="0" tIns="0" bIns="0">
            <a:spAutoFit/>
          </a:bodyPr>
          <a:lstStyle/>
          <a:p>
            <a:pPr algn="l">
              <a:lnSpc>
                <a:spcPct val="116000"/>
              </a:lnSpc>
              <a:spcAft>
                <a:spcPts val="0"/>
              </a:spcAft>
            </a:pPr>
            <a:r>
              <a:rPr sz="1100" b="0">
                <a:solidFill>
                  <a:srgbClr val="596579"/>
                </a:solidFill>
                <a:latin typeface="Arial"/>
              </a:rPr>
              <a:t>Semantic + lexical + fuzzy + keyword + category + reciprocal rank, each component returned.</a:t>
            </a:r>
          </a:p>
        </p:txBody>
      </p:sp>
      <p:sp>
        <p:nvSpPr>
          <p:cNvPr id="27" name="Rectangle 26"/>
          <p:cNvSpPr/>
          <p:nvPr/>
        </p:nvSpPr>
        <p:spPr>
          <a:xfrm>
            <a:off x="658368" y="5193792"/>
            <a:ext cx="10881360" cy="786384"/>
          </a:xfrm>
          <a:prstGeom prst="rect">
            <a:avLst/>
          </a:prstGeom>
          <a:solidFill>
            <a:srgbClr val="EEF2FF"/>
          </a:solidFill>
          <a:ln w="12700">
            <a:solidFill>
              <a:srgbClr val="CFD6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358384"/>
            <a:ext cx="10424160" cy="548640"/>
          </a:xfrm>
          <a:prstGeom prst="rect">
            <a:avLst/>
          </a:prstGeom>
          <a:noFill/>
        </p:spPr>
        <p:txBody>
          <a:bodyPr wrap="square" anchor="t" lIns="0" rIns="0" tIns="0" bIns="0">
            <a:spAutoFit/>
          </a:bodyPr>
          <a:lstStyle/>
          <a:p>
            <a:pPr algn="l">
              <a:lnSpc>
                <a:spcPct val="118000"/>
              </a:lnSpc>
              <a:spcAft>
                <a:spcPts val="0"/>
              </a:spcAft>
            </a:pPr>
            <a:r>
              <a:rPr sz="1150" b="0">
                <a:solidFill>
                  <a:srgbClr val="172033"/>
                </a:solidFill>
                <a:latin typeface="Arial"/>
              </a:rPr>
              <a:t>Category is a preference, not a hard filter — a mis-tagged article can still win on merit. The trace shows the tool name, transport, request, every score component, and the duration.</a:t>
            </a:r>
          </a:p>
        </p:txBody>
      </p:sp>
      <p:sp>
        <p:nvSpPr>
          <p:cNvPr id="29" name="TextBox 28"/>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30" name="TextBox 29"/>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PIPELINE · 3 OF 3 — RESPOND</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How it responds — evidence only, then verified</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847088"/>
            <a:ext cx="5577840" cy="4023360"/>
          </a:xfrm>
          <a:prstGeom prst="rect">
            <a:avLst/>
          </a:prstGeom>
          <a:noFill/>
        </p:spPr>
        <p:txBody>
          <a:bodyPr wrap="square" lIns="0" rIns="0" tIns="0" bIns="0">
            <a:spAutoFit/>
          </a:bodyPr>
          <a:lstStyle/>
          <a:p>
            <a:pPr>
              <a:lnSpc>
                <a:spcPct val="118000"/>
              </a:lnSpc>
              <a:spcAft>
                <a:spcPts val="1100"/>
              </a:spcAft>
            </a:pPr>
            <a:r>
              <a:rPr sz="1400" b="1">
                <a:solidFill>
                  <a:srgbClr val="4F46E5"/>
                </a:solidFill>
                <a:latin typeface="Arial"/>
              </a:rPr>
              <a:t>▪  </a:t>
            </a:r>
            <a:r>
              <a:rPr sz="1400" b="1">
                <a:solidFill>
                  <a:srgbClr val="172033"/>
                </a:solidFill>
                <a:latin typeface="Arial"/>
              </a:rPr>
              <a:t>Only AUTO_RESOLVE candidates reach generation. </a:t>
            </a:r>
            <a:r>
              <a:rPr sz="1400">
                <a:solidFill>
                  <a:srgbClr val="596579"/>
                </a:solidFill>
                <a:latin typeface="Arial"/>
              </a:rPr>
              <a:t>Escalations and clarifications never call the writer model.</a:t>
            </a:r>
          </a:p>
          <a:p>
            <a:pPr>
              <a:lnSpc>
                <a:spcPct val="118000"/>
              </a:lnSpc>
              <a:spcAft>
                <a:spcPts val="1100"/>
              </a:spcAft>
            </a:pPr>
            <a:r>
              <a:rPr sz="1400" b="1">
                <a:solidFill>
                  <a:srgbClr val="4F46E5"/>
                </a:solidFill>
                <a:latin typeface="Arial"/>
              </a:rPr>
              <a:t>▪  </a:t>
            </a:r>
            <a:r>
              <a:rPr sz="1400" b="1">
                <a:solidFill>
                  <a:srgbClr val="172033"/>
                </a:solidFill>
                <a:latin typeface="Arial"/>
              </a:rPr>
              <a:t>The model sees the ticket and retrieved passages — nothing else. </a:t>
            </a:r>
            <a:r>
              <a:rPr sz="1400">
                <a:solidFill>
                  <a:srgbClr val="596579"/>
                </a:solidFill>
                <a:latin typeface="Arial"/>
              </a:rPr>
              <a:t>No open-ended world knowledge enters the answer.</a:t>
            </a:r>
          </a:p>
          <a:p>
            <a:pPr>
              <a:lnSpc>
                <a:spcPct val="118000"/>
              </a:lnSpc>
              <a:spcAft>
                <a:spcPts val="1100"/>
              </a:spcAft>
            </a:pPr>
            <a:r>
              <a:rPr sz="1400" b="1">
                <a:solidFill>
                  <a:srgbClr val="4F46E5"/>
                </a:solidFill>
                <a:latin typeface="Arial"/>
              </a:rPr>
              <a:t>▪  </a:t>
            </a:r>
            <a:r>
              <a:rPr sz="1400" b="1">
                <a:solidFill>
                  <a:srgbClr val="172033"/>
                </a:solidFill>
                <a:latin typeface="Arial"/>
              </a:rPr>
              <a:t>It must return citations plus exact supporting quotes. </a:t>
            </a:r>
            <a:r>
              <a:rPr sz="1400">
                <a:solidFill>
                  <a:srgbClr val="596579"/>
                </a:solidFill>
                <a:latin typeface="Arial"/>
              </a:rPr>
              <a:t>A claim without evidence is not an acceptable output shape.</a:t>
            </a:r>
          </a:p>
        </p:txBody>
      </p:sp>
      <p:sp>
        <p:nvSpPr>
          <p:cNvPr id="8" name="Rectangle 7"/>
          <p:cNvSpPr/>
          <p:nvPr/>
        </p:nvSpPr>
        <p:spPr>
          <a:xfrm>
            <a:off x="6537960" y="1847088"/>
            <a:ext cx="4983480" cy="228600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37960" y="1847088"/>
            <a:ext cx="4983480" cy="45720"/>
          </a:xfrm>
          <a:prstGeom prst="rect">
            <a:avLst/>
          </a:prstGeom>
          <a:solidFill>
            <a:srgbClr val="BD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39128" y="2084832"/>
            <a:ext cx="4581144" cy="274320"/>
          </a:xfrm>
          <a:prstGeom prst="rect">
            <a:avLst/>
          </a:prstGeom>
          <a:noFill/>
        </p:spPr>
        <p:txBody>
          <a:bodyPr wrap="square" anchor="t" lIns="0" rIns="0" tIns="0" bIns="0">
            <a:spAutoFit/>
          </a:bodyPr>
          <a:lstStyle/>
          <a:p>
            <a:pPr algn="l">
              <a:lnSpc>
                <a:spcPct val="100000"/>
              </a:lnSpc>
              <a:spcAft>
                <a:spcPts val="400"/>
              </a:spcAft>
            </a:pPr>
            <a:r>
              <a:rPr sz="1300" b="1">
                <a:solidFill>
                  <a:srgbClr val="0B1739"/>
                </a:solidFill>
                <a:latin typeface="Arial"/>
              </a:rPr>
              <a:t>The fail-closed validator</a:t>
            </a:r>
          </a:p>
        </p:txBody>
      </p:sp>
      <p:sp>
        <p:nvSpPr>
          <p:cNvPr id="11" name="TextBox 10"/>
          <p:cNvSpPr txBox="1"/>
          <p:nvPr/>
        </p:nvSpPr>
        <p:spPr>
          <a:xfrm>
            <a:off x="6739128" y="2414016"/>
            <a:ext cx="4581144" cy="1554480"/>
          </a:xfrm>
          <a:prstGeom prst="rect">
            <a:avLst/>
          </a:prstGeom>
          <a:noFill/>
        </p:spPr>
        <p:txBody>
          <a:bodyPr wrap="square" anchor="t" lIns="0" rIns="0" tIns="0" bIns="0">
            <a:spAutoFit/>
          </a:bodyPr>
          <a:lstStyle/>
          <a:p>
            <a:pPr algn="l">
              <a:lnSpc>
                <a:spcPct val="116000"/>
              </a:lnSpc>
              <a:spcAft>
                <a:spcPts val="0"/>
              </a:spcAft>
            </a:pPr>
            <a:r>
              <a:rPr sz="1100" b="0">
                <a:solidFill>
                  <a:srgbClr val="596579"/>
                </a:solidFill>
                <a:latin typeface="Arial"/>
              </a:rPr>
              <a:t>1.  Every citation ID must have come back from the MCP response.
2.  The answer must carry the required markers.
3.  Every support quote must exist verbatim in the article it cites.</a:t>
            </a:r>
          </a:p>
        </p:txBody>
      </p:sp>
      <p:sp>
        <p:nvSpPr>
          <p:cNvPr id="12" name="Rectangle 11"/>
          <p:cNvSpPr/>
          <p:nvPr/>
        </p:nvSpPr>
        <p:spPr>
          <a:xfrm>
            <a:off x="658368" y="4443984"/>
            <a:ext cx="10881360" cy="1207008"/>
          </a:xfrm>
          <a:prstGeom prst="rect">
            <a:avLst/>
          </a:prstGeom>
          <a:solidFill>
            <a:srgbClr val="0B1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645152"/>
            <a:ext cx="10332720" cy="310896"/>
          </a:xfrm>
          <a:prstGeom prst="rect">
            <a:avLst/>
          </a:prstGeom>
          <a:noFill/>
        </p:spPr>
        <p:txBody>
          <a:bodyPr wrap="square" anchor="t" lIns="0" rIns="0" tIns="0" bIns="0">
            <a:spAutoFit/>
          </a:bodyPr>
          <a:lstStyle/>
          <a:p>
            <a:pPr algn="l">
              <a:lnSpc>
                <a:spcPct val="100000"/>
              </a:lnSpc>
              <a:spcAft>
                <a:spcPts val="600"/>
              </a:spcAft>
            </a:pPr>
            <a:r>
              <a:rPr sz="1500" b="1">
                <a:solidFill>
                  <a:srgbClr val="FFFFFF"/>
                </a:solidFill>
                <a:latin typeface="Arial"/>
              </a:rPr>
              <a:t>Any failure at any step  →  GROUNDING_VALIDATION_FAILED</a:t>
            </a:r>
          </a:p>
        </p:txBody>
      </p:sp>
      <p:sp>
        <p:nvSpPr>
          <p:cNvPr id="14" name="TextBox 13"/>
          <p:cNvSpPr txBox="1"/>
          <p:nvPr/>
        </p:nvSpPr>
        <p:spPr>
          <a:xfrm>
            <a:off x="932688" y="5047488"/>
            <a:ext cx="10332720" cy="457200"/>
          </a:xfrm>
          <a:prstGeom prst="rect">
            <a:avLst/>
          </a:prstGeom>
          <a:noFill/>
        </p:spPr>
        <p:txBody>
          <a:bodyPr wrap="square" anchor="t" lIns="0" rIns="0" tIns="0" bIns="0">
            <a:spAutoFit/>
          </a:bodyPr>
          <a:lstStyle/>
          <a:p>
            <a:pPr algn="l">
              <a:lnSpc>
                <a:spcPct val="118000"/>
              </a:lnSpc>
              <a:spcAft>
                <a:spcPts val="0"/>
              </a:spcAft>
            </a:pPr>
            <a:r>
              <a:rPr sz="1200" b="0">
                <a:solidFill>
                  <a:srgbClr val="B9C4FF"/>
                </a:solidFill>
                <a:latin typeface="Arial"/>
              </a:rPr>
              <a:t>The draft is withheld and the route changes to ESCALATE. The system prefers sending nothing to sending something it cannot prove.</a:t>
            </a:r>
          </a:p>
        </p:txBody>
      </p:sp>
      <p:sp>
        <p:nvSpPr>
          <p:cNvPr id="15" name="TextBox 14"/>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16" name="TextBox 15"/>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SAFETY MODEL</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Deterministic guardrails override the model</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810512"/>
            <a:ext cx="10881360" cy="274320"/>
          </a:xfrm>
          <a:prstGeom prst="rect">
            <a:avLst/>
          </a:prstGeom>
          <a:noFill/>
        </p:spPr>
        <p:txBody>
          <a:bodyPr wrap="square" anchor="t" lIns="0" rIns="0" tIns="0" bIns="0">
            <a:spAutoFit/>
          </a:bodyPr>
          <a:lstStyle/>
          <a:p>
            <a:pPr algn="l">
              <a:lnSpc>
                <a:spcPct val="100000"/>
              </a:lnSpc>
              <a:spcAft>
                <a:spcPts val="0"/>
              </a:spcAft>
            </a:pPr>
            <a:r>
              <a:rPr sz="1200" b="0">
                <a:solidFill>
                  <a:srgbClr val="172033"/>
                </a:solidFill>
                <a:latin typeface="Arial"/>
              </a:rPr>
              <a:t>Thirteen rule codes, evaluated on the raw ticket before any routing decision:</a:t>
            </a:r>
          </a:p>
        </p:txBody>
      </p:sp>
      <p:sp>
        <p:nvSpPr>
          <p:cNvPr id="8" name="Rectangle 7"/>
          <p:cNvSpPr/>
          <p:nvPr/>
        </p:nvSpPr>
        <p:spPr>
          <a:xfrm>
            <a:off x="658368" y="2157984"/>
            <a:ext cx="2084831" cy="365760"/>
          </a:xfrm>
          <a:prstGeom prst="rect">
            <a:avLst/>
          </a:prstGeom>
          <a:solidFill>
            <a:srgbClr val="FFFFFF"/>
          </a:solidFill>
          <a:ln w="12700">
            <a:solidFill>
              <a:srgbClr val="D9D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49424"/>
            <a:ext cx="1920240" cy="274320"/>
          </a:xfrm>
          <a:prstGeom prst="rect">
            <a:avLst/>
          </a:prstGeom>
          <a:noFill/>
        </p:spPr>
        <p:txBody>
          <a:bodyPr wrap="square" anchor="t" lIns="0" rIns="0" tIns="0" bIns="0">
            <a:spAutoFit/>
          </a:bodyPr>
          <a:lstStyle/>
          <a:p>
            <a:pPr algn="ctr">
              <a:lnSpc>
                <a:spcPct val="100000"/>
              </a:lnSpc>
              <a:spcAft>
                <a:spcPts val="0"/>
              </a:spcAft>
            </a:pPr>
            <a:r>
              <a:rPr sz="819" b="1">
                <a:solidFill>
                  <a:srgbClr val="0B1739"/>
                </a:solidFill>
                <a:latin typeface="Arial"/>
              </a:rPr>
              <a:t>HIGH_URGENCY</a:t>
            </a:r>
          </a:p>
        </p:txBody>
      </p:sp>
      <p:sp>
        <p:nvSpPr>
          <p:cNvPr id="10" name="Rectangle 9"/>
          <p:cNvSpPr/>
          <p:nvPr/>
        </p:nvSpPr>
        <p:spPr>
          <a:xfrm>
            <a:off x="2852928" y="2157984"/>
            <a:ext cx="2084831" cy="365760"/>
          </a:xfrm>
          <a:prstGeom prst="rect">
            <a:avLst/>
          </a:prstGeom>
          <a:solidFill>
            <a:srgbClr val="FFFFFF"/>
          </a:solidFill>
          <a:ln w="12700">
            <a:solidFill>
              <a:srgbClr val="D9D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44368" y="2249424"/>
            <a:ext cx="1920240" cy="274320"/>
          </a:xfrm>
          <a:prstGeom prst="rect">
            <a:avLst/>
          </a:prstGeom>
          <a:noFill/>
        </p:spPr>
        <p:txBody>
          <a:bodyPr wrap="square" anchor="t" lIns="0" rIns="0" tIns="0" bIns="0">
            <a:spAutoFit/>
          </a:bodyPr>
          <a:lstStyle/>
          <a:p>
            <a:pPr algn="ctr">
              <a:lnSpc>
                <a:spcPct val="100000"/>
              </a:lnSpc>
              <a:spcAft>
                <a:spcPts val="0"/>
              </a:spcAft>
            </a:pPr>
            <a:r>
              <a:rPr sz="819" b="1">
                <a:solidFill>
                  <a:srgbClr val="0B1739"/>
                </a:solidFill>
                <a:latin typeface="Arial"/>
              </a:rPr>
              <a:t>CRITICAL_URGENCY</a:t>
            </a:r>
          </a:p>
        </p:txBody>
      </p:sp>
      <p:sp>
        <p:nvSpPr>
          <p:cNvPr id="12" name="Rectangle 11"/>
          <p:cNvSpPr/>
          <p:nvPr/>
        </p:nvSpPr>
        <p:spPr>
          <a:xfrm>
            <a:off x="5047488" y="2157984"/>
            <a:ext cx="2084831" cy="365760"/>
          </a:xfrm>
          <a:prstGeom prst="rect">
            <a:avLst/>
          </a:prstGeom>
          <a:solidFill>
            <a:srgbClr val="FFFFFF"/>
          </a:solidFill>
          <a:ln w="12700">
            <a:solidFill>
              <a:srgbClr val="D9D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38928" y="2249424"/>
            <a:ext cx="1920240" cy="274320"/>
          </a:xfrm>
          <a:prstGeom prst="rect">
            <a:avLst/>
          </a:prstGeom>
          <a:noFill/>
        </p:spPr>
        <p:txBody>
          <a:bodyPr wrap="square" anchor="t" lIns="0" rIns="0" tIns="0" bIns="0">
            <a:spAutoFit/>
          </a:bodyPr>
          <a:lstStyle/>
          <a:p>
            <a:pPr algn="ctr">
              <a:lnSpc>
                <a:spcPct val="100000"/>
              </a:lnSpc>
              <a:spcAft>
                <a:spcPts val="0"/>
              </a:spcAft>
            </a:pPr>
            <a:r>
              <a:rPr sz="819" b="1">
                <a:solidFill>
                  <a:srgbClr val="0B1739"/>
                </a:solidFill>
                <a:latin typeface="Arial"/>
              </a:rPr>
              <a:t>ANGRY_CUSTOMER</a:t>
            </a:r>
          </a:p>
        </p:txBody>
      </p:sp>
      <p:sp>
        <p:nvSpPr>
          <p:cNvPr id="14" name="Rectangle 13"/>
          <p:cNvSpPr/>
          <p:nvPr/>
        </p:nvSpPr>
        <p:spPr>
          <a:xfrm>
            <a:off x="7242047" y="2157984"/>
            <a:ext cx="2084831" cy="365760"/>
          </a:xfrm>
          <a:prstGeom prst="rect">
            <a:avLst/>
          </a:prstGeom>
          <a:solidFill>
            <a:srgbClr val="FFFFFF"/>
          </a:solidFill>
          <a:ln w="12700">
            <a:solidFill>
              <a:srgbClr val="D9D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33487" y="2249424"/>
            <a:ext cx="1920240" cy="274320"/>
          </a:xfrm>
          <a:prstGeom prst="rect">
            <a:avLst/>
          </a:prstGeom>
          <a:noFill/>
        </p:spPr>
        <p:txBody>
          <a:bodyPr wrap="square" anchor="t" lIns="0" rIns="0" tIns="0" bIns="0">
            <a:spAutoFit/>
          </a:bodyPr>
          <a:lstStyle/>
          <a:p>
            <a:pPr algn="ctr">
              <a:lnSpc>
                <a:spcPct val="100000"/>
              </a:lnSpc>
              <a:spcAft>
                <a:spcPts val="0"/>
              </a:spcAft>
            </a:pPr>
            <a:r>
              <a:rPr sz="819" b="1">
                <a:solidFill>
                  <a:srgbClr val="0B1739"/>
                </a:solidFill>
                <a:latin typeface="Arial"/>
              </a:rPr>
              <a:t>THREAT_DETECTED</a:t>
            </a:r>
          </a:p>
        </p:txBody>
      </p:sp>
      <p:sp>
        <p:nvSpPr>
          <p:cNvPr id="16" name="Rectangle 15"/>
          <p:cNvSpPr/>
          <p:nvPr/>
        </p:nvSpPr>
        <p:spPr>
          <a:xfrm>
            <a:off x="9436608" y="2157984"/>
            <a:ext cx="2084831" cy="365760"/>
          </a:xfrm>
          <a:prstGeom prst="rect">
            <a:avLst/>
          </a:prstGeom>
          <a:solidFill>
            <a:srgbClr val="FFFFFF"/>
          </a:solidFill>
          <a:ln w="12700">
            <a:solidFill>
              <a:srgbClr val="D9D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28048" y="2249424"/>
            <a:ext cx="1920240" cy="274320"/>
          </a:xfrm>
          <a:prstGeom prst="rect">
            <a:avLst/>
          </a:prstGeom>
          <a:noFill/>
        </p:spPr>
        <p:txBody>
          <a:bodyPr wrap="square" anchor="t" lIns="0" rIns="0" tIns="0" bIns="0">
            <a:spAutoFit/>
          </a:bodyPr>
          <a:lstStyle/>
          <a:p>
            <a:pPr algn="ctr">
              <a:lnSpc>
                <a:spcPct val="100000"/>
              </a:lnSpc>
              <a:spcAft>
                <a:spcPts val="0"/>
              </a:spcAft>
            </a:pPr>
            <a:r>
              <a:rPr sz="819" b="1">
                <a:solidFill>
                  <a:srgbClr val="0B1739"/>
                </a:solidFill>
                <a:latin typeface="Arial"/>
              </a:rPr>
              <a:t>SECURITY_RISK</a:t>
            </a:r>
          </a:p>
        </p:txBody>
      </p:sp>
      <p:sp>
        <p:nvSpPr>
          <p:cNvPr id="18" name="Rectangle 17"/>
          <p:cNvSpPr/>
          <p:nvPr/>
        </p:nvSpPr>
        <p:spPr>
          <a:xfrm>
            <a:off x="658368" y="2633472"/>
            <a:ext cx="2084831" cy="365760"/>
          </a:xfrm>
          <a:prstGeom prst="rect">
            <a:avLst/>
          </a:prstGeom>
          <a:solidFill>
            <a:srgbClr val="FFFFFF"/>
          </a:solidFill>
          <a:ln w="12700">
            <a:solidFill>
              <a:srgbClr val="D9D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724912"/>
            <a:ext cx="1920240" cy="274320"/>
          </a:xfrm>
          <a:prstGeom prst="rect">
            <a:avLst/>
          </a:prstGeom>
          <a:noFill/>
        </p:spPr>
        <p:txBody>
          <a:bodyPr wrap="square" anchor="t" lIns="0" rIns="0" tIns="0" bIns="0">
            <a:spAutoFit/>
          </a:bodyPr>
          <a:lstStyle/>
          <a:p>
            <a:pPr algn="ctr">
              <a:lnSpc>
                <a:spcPct val="100000"/>
              </a:lnSpc>
              <a:spcAft>
                <a:spcPts val="0"/>
              </a:spcAft>
            </a:pPr>
            <a:r>
              <a:rPr sz="819" b="1">
                <a:solidFill>
                  <a:srgbClr val="0B1739"/>
                </a:solidFill>
                <a:latin typeface="Arial"/>
              </a:rPr>
              <a:t>PAYMENT_FAILURE</a:t>
            </a:r>
          </a:p>
        </p:txBody>
      </p:sp>
      <p:sp>
        <p:nvSpPr>
          <p:cNvPr id="20" name="Rectangle 19"/>
          <p:cNvSpPr/>
          <p:nvPr/>
        </p:nvSpPr>
        <p:spPr>
          <a:xfrm>
            <a:off x="2852928" y="2633472"/>
            <a:ext cx="2084831" cy="365760"/>
          </a:xfrm>
          <a:prstGeom prst="rect">
            <a:avLst/>
          </a:prstGeom>
          <a:solidFill>
            <a:srgbClr val="FFFFFF"/>
          </a:solidFill>
          <a:ln w="12700">
            <a:solidFill>
              <a:srgbClr val="D9D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44368" y="2724912"/>
            <a:ext cx="1920240" cy="274320"/>
          </a:xfrm>
          <a:prstGeom prst="rect">
            <a:avLst/>
          </a:prstGeom>
          <a:noFill/>
        </p:spPr>
        <p:txBody>
          <a:bodyPr wrap="square" anchor="t" lIns="0" rIns="0" tIns="0" bIns="0">
            <a:spAutoFit/>
          </a:bodyPr>
          <a:lstStyle/>
          <a:p>
            <a:pPr algn="ctr">
              <a:lnSpc>
                <a:spcPct val="100000"/>
              </a:lnSpc>
              <a:spcAft>
                <a:spcPts val="0"/>
              </a:spcAft>
            </a:pPr>
            <a:r>
              <a:rPr sz="819" b="1">
                <a:solidFill>
                  <a:srgbClr val="0B1739"/>
                </a:solidFill>
                <a:latin typeface="Arial"/>
              </a:rPr>
              <a:t>REFUND_OR_LEGAL</a:t>
            </a:r>
          </a:p>
        </p:txBody>
      </p:sp>
      <p:sp>
        <p:nvSpPr>
          <p:cNvPr id="22" name="Rectangle 21"/>
          <p:cNvSpPr/>
          <p:nvPr/>
        </p:nvSpPr>
        <p:spPr>
          <a:xfrm>
            <a:off x="5047488" y="2633472"/>
            <a:ext cx="2084831" cy="365760"/>
          </a:xfrm>
          <a:prstGeom prst="rect">
            <a:avLst/>
          </a:prstGeom>
          <a:solidFill>
            <a:srgbClr val="FFFFFF"/>
          </a:solidFill>
          <a:ln w="12700">
            <a:solidFill>
              <a:srgbClr val="D9D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8928" y="2724912"/>
            <a:ext cx="1920240" cy="274320"/>
          </a:xfrm>
          <a:prstGeom prst="rect">
            <a:avLst/>
          </a:prstGeom>
          <a:noFill/>
        </p:spPr>
        <p:txBody>
          <a:bodyPr wrap="square" anchor="t" lIns="0" rIns="0" tIns="0" bIns="0">
            <a:spAutoFit/>
          </a:bodyPr>
          <a:lstStyle/>
          <a:p>
            <a:pPr algn="ctr">
              <a:lnSpc>
                <a:spcPct val="100000"/>
              </a:lnSpc>
              <a:spcAft>
                <a:spcPts val="0"/>
              </a:spcAft>
            </a:pPr>
            <a:r>
              <a:rPr sz="819" b="1">
                <a:solidFill>
                  <a:srgbClr val="0B1739"/>
                </a:solidFill>
                <a:latin typeface="Arial"/>
              </a:rPr>
              <a:t>MISSING_INFORMATION</a:t>
            </a:r>
          </a:p>
        </p:txBody>
      </p:sp>
      <p:sp>
        <p:nvSpPr>
          <p:cNvPr id="24" name="Rectangle 23"/>
          <p:cNvSpPr/>
          <p:nvPr/>
        </p:nvSpPr>
        <p:spPr>
          <a:xfrm>
            <a:off x="7242047" y="2633472"/>
            <a:ext cx="2084831" cy="365760"/>
          </a:xfrm>
          <a:prstGeom prst="rect">
            <a:avLst/>
          </a:prstGeom>
          <a:solidFill>
            <a:srgbClr val="FFFFFF"/>
          </a:solidFill>
          <a:ln w="12700">
            <a:solidFill>
              <a:srgbClr val="D9D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33487" y="2724912"/>
            <a:ext cx="1920240" cy="274320"/>
          </a:xfrm>
          <a:prstGeom prst="rect">
            <a:avLst/>
          </a:prstGeom>
          <a:noFill/>
        </p:spPr>
        <p:txBody>
          <a:bodyPr wrap="square" anchor="t" lIns="0" rIns="0" tIns="0" bIns="0">
            <a:spAutoFit/>
          </a:bodyPr>
          <a:lstStyle/>
          <a:p>
            <a:pPr algn="ctr">
              <a:lnSpc>
                <a:spcPct val="100000"/>
              </a:lnSpc>
              <a:spcAft>
                <a:spcPts val="0"/>
              </a:spcAft>
            </a:pPr>
            <a:r>
              <a:rPr sz="819" b="1">
                <a:solidFill>
                  <a:srgbClr val="0B1739"/>
                </a:solidFill>
                <a:latin typeface="Arial"/>
              </a:rPr>
              <a:t>LOW_CLASSIFICATION_CONFIDENCE</a:t>
            </a:r>
          </a:p>
        </p:txBody>
      </p:sp>
      <p:sp>
        <p:nvSpPr>
          <p:cNvPr id="26" name="Rectangle 25"/>
          <p:cNvSpPr/>
          <p:nvPr/>
        </p:nvSpPr>
        <p:spPr>
          <a:xfrm>
            <a:off x="9436608" y="2633472"/>
            <a:ext cx="2084831" cy="365760"/>
          </a:xfrm>
          <a:prstGeom prst="rect">
            <a:avLst/>
          </a:prstGeom>
          <a:solidFill>
            <a:srgbClr val="FFFFFF"/>
          </a:solidFill>
          <a:ln w="12700">
            <a:solidFill>
              <a:srgbClr val="D9D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28048" y="2724912"/>
            <a:ext cx="1920240" cy="274320"/>
          </a:xfrm>
          <a:prstGeom prst="rect">
            <a:avLst/>
          </a:prstGeom>
          <a:noFill/>
        </p:spPr>
        <p:txBody>
          <a:bodyPr wrap="square" anchor="t" lIns="0" rIns="0" tIns="0" bIns="0">
            <a:spAutoFit/>
          </a:bodyPr>
          <a:lstStyle/>
          <a:p>
            <a:pPr algn="ctr">
              <a:lnSpc>
                <a:spcPct val="100000"/>
              </a:lnSpc>
              <a:spcAft>
                <a:spcPts val="0"/>
              </a:spcAft>
            </a:pPr>
            <a:r>
              <a:rPr sz="819" b="1">
                <a:solidFill>
                  <a:srgbClr val="0B1739"/>
                </a:solidFill>
                <a:latin typeface="Arial"/>
              </a:rPr>
              <a:t>LOW_KB_CONFIDENCE</a:t>
            </a:r>
          </a:p>
        </p:txBody>
      </p:sp>
      <p:sp>
        <p:nvSpPr>
          <p:cNvPr id="28" name="Rectangle 27"/>
          <p:cNvSpPr/>
          <p:nvPr/>
        </p:nvSpPr>
        <p:spPr>
          <a:xfrm>
            <a:off x="658368" y="3108960"/>
            <a:ext cx="2084831" cy="365760"/>
          </a:xfrm>
          <a:prstGeom prst="rect">
            <a:avLst/>
          </a:prstGeom>
          <a:solidFill>
            <a:srgbClr val="FFFFFF"/>
          </a:solidFill>
          <a:ln w="12700">
            <a:solidFill>
              <a:srgbClr val="D9D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200400"/>
            <a:ext cx="1920240" cy="274320"/>
          </a:xfrm>
          <a:prstGeom prst="rect">
            <a:avLst/>
          </a:prstGeom>
          <a:noFill/>
        </p:spPr>
        <p:txBody>
          <a:bodyPr wrap="square" anchor="t" lIns="0" rIns="0" tIns="0" bIns="0">
            <a:spAutoFit/>
          </a:bodyPr>
          <a:lstStyle/>
          <a:p>
            <a:pPr algn="ctr">
              <a:lnSpc>
                <a:spcPct val="100000"/>
              </a:lnSpc>
              <a:spcAft>
                <a:spcPts val="0"/>
              </a:spcAft>
            </a:pPr>
            <a:r>
              <a:rPr sz="819" b="1">
                <a:solidFill>
                  <a:srgbClr val="0B1739"/>
                </a:solidFill>
                <a:latin typeface="Arial"/>
              </a:rPr>
              <a:t>MODEL_ERROR</a:t>
            </a:r>
          </a:p>
        </p:txBody>
      </p:sp>
      <p:sp>
        <p:nvSpPr>
          <p:cNvPr id="30" name="Rectangle 29"/>
          <p:cNvSpPr/>
          <p:nvPr/>
        </p:nvSpPr>
        <p:spPr>
          <a:xfrm>
            <a:off x="2852928" y="3108960"/>
            <a:ext cx="2084831" cy="365760"/>
          </a:xfrm>
          <a:prstGeom prst="rect">
            <a:avLst/>
          </a:prstGeom>
          <a:solidFill>
            <a:srgbClr val="FFFFFF"/>
          </a:solidFill>
          <a:ln w="12700">
            <a:solidFill>
              <a:srgbClr val="D9D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44368" y="3200400"/>
            <a:ext cx="1920240" cy="274320"/>
          </a:xfrm>
          <a:prstGeom prst="rect">
            <a:avLst/>
          </a:prstGeom>
          <a:noFill/>
        </p:spPr>
        <p:txBody>
          <a:bodyPr wrap="square" anchor="t" lIns="0" rIns="0" tIns="0" bIns="0">
            <a:spAutoFit/>
          </a:bodyPr>
          <a:lstStyle/>
          <a:p>
            <a:pPr algn="ctr">
              <a:lnSpc>
                <a:spcPct val="100000"/>
              </a:lnSpc>
              <a:spcAft>
                <a:spcPts val="0"/>
              </a:spcAft>
            </a:pPr>
            <a:r>
              <a:rPr sz="819" b="1">
                <a:solidFill>
                  <a:srgbClr val="0B1739"/>
                </a:solidFill>
                <a:latin typeface="Arial"/>
              </a:rPr>
              <a:t>MCP_UNAVAILABLE</a:t>
            </a:r>
          </a:p>
        </p:txBody>
      </p:sp>
      <p:sp>
        <p:nvSpPr>
          <p:cNvPr id="32" name="Rectangle 31"/>
          <p:cNvSpPr/>
          <p:nvPr/>
        </p:nvSpPr>
        <p:spPr>
          <a:xfrm>
            <a:off x="5047488" y="3108960"/>
            <a:ext cx="2084831" cy="365760"/>
          </a:xfrm>
          <a:prstGeom prst="rect">
            <a:avLst/>
          </a:prstGeom>
          <a:solidFill>
            <a:srgbClr val="FFFFFF"/>
          </a:solidFill>
          <a:ln w="12700">
            <a:solidFill>
              <a:srgbClr val="D9D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38928" y="3200400"/>
            <a:ext cx="1920240" cy="274320"/>
          </a:xfrm>
          <a:prstGeom prst="rect">
            <a:avLst/>
          </a:prstGeom>
          <a:noFill/>
        </p:spPr>
        <p:txBody>
          <a:bodyPr wrap="square" anchor="t" lIns="0" rIns="0" tIns="0" bIns="0">
            <a:spAutoFit/>
          </a:bodyPr>
          <a:lstStyle/>
          <a:p>
            <a:pPr algn="ctr">
              <a:lnSpc>
                <a:spcPct val="100000"/>
              </a:lnSpc>
              <a:spcAft>
                <a:spcPts val="0"/>
              </a:spcAft>
            </a:pPr>
            <a:r>
              <a:rPr sz="819" b="1">
                <a:solidFill>
                  <a:srgbClr val="0B1739"/>
                </a:solidFill>
                <a:latin typeface="Arial"/>
              </a:rPr>
              <a:t>GROUNDING_VALIDATION_FAILED</a:t>
            </a:r>
          </a:p>
        </p:txBody>
      </p:sp>
      <p:sp>
        <p:nvSpPr>
          <p:cNvPr id="34" name="TextBox 33"/>
          <p:cNvSpPr txBox="1"/>
          <p:nvPr/>
        </p:nvSpPr>
        <p:spPr>
          <a:xfrm>
            <a:off x="658368" y="3803904"/>
            <a:ext cx="10881360" cy="274320"/>
          </a:xfrm>
          <a:prstGeom prst="rect">
            <a:avLst/>
          </a:prstGeom>
          <a:noFill/>
        </p:spPr>
        <p:txBody>
          <a:bodyPr wrap="square" anchor="t" lIns="0" rIns="0" tIns="0" bIns="0">
            <a:spAutoFit/>
          </a:bodyPr>
          <a:lstStyle/>
          <a:p>
            <a:pPr algn="l">
              <a:lnSpc>
                <a:spcPct val="100000"/>
              </a:lnSpc>
              <a:spcAft>
                <a:spcPts val="0"/>
              </a:spcAft>
            </a:pPr>
            <a:r>
              <a:rPr sz="1200" b="1">
                <a:solidFill>
                  <a:srgbClr val="0B1739"/>
                </a:solidFill>
                <a:latin typeface="Arial"/>
              </a:rPr>
              <a:t>Route precedence — the first rule that fires decides:</a:t>
            </a:r>
          </a:p>
        </p:txBody>
      </p:sp>
      <p:sp>
        <p:nvSpPr>
          <p:cNvPr id="35" name="Rectangle 34"/>
          <p:cNvSpPr/>
          <p:nvPr/>
        </p:nvSpPr>
        <p:spPr>
          <a:xfrm>
            <a:off x="658368" y="4151376"/>
            <a:ext cx="548640" cy="301752"/>
          </a:xfrm>
          <a:prstGeom prst="rect">
            <a:avLst/>
          </a:prstGeom>
          <a:solidFill>
            <a:srgbClr val="0B173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 y="4229100"/>
            <a:ext cx="365760" cy="301752"/>
          </a:xfrm>
          <a:prstGeom prst="rect">
            <a:avLst/>
          </a:prstGeom>
          <a:noFill/>
        </p:spPr>
        <p:txBody>
          <a:bodyPr wrap="square" anchor="t" lIns="0" rIns="0" tIns="0" bIns="0">
            <a:spAutoFit/>
          </a:bodyPr>
          <a:lstStyle/>
          <a:p>
            <a:pPr algn="l">
              <a:lnSpc>
                <a:spcPct val="100000"/>
              </a:lnSpc>
              <a:spcAft>
                <a:spcPts val="0"/>
              </a:spcAft>
            </a:pPr>
            <a:r>
              <a:rPr sz="1050" b="1">
                <a:solidFill>
                  <a:srgbClr val="FFFFFF"/>
                </a:solidFill>
                <a:latin typeface="Arial"/>
              </a:rPr>
              <a:t>#</a:t>
            </a:r>
          </a:p>
        </p:txBody>
      </p:sp>
      <p:sp>
        <p:nvSpPr>
          <p:cNvPr id="37" name="Rectangle 36"/>
          <p:cNvSpPr/>
          <p:nvPr/>
        </p:nvSpPr>
        <p:spPr>
          <a:xfrm>
            <a:off x="1207008" y="4151376"/>
            <a:ext cx="7772400" cy="301752"/>
          </a:xfrm>
          <a:prstGeom prst="rect">
            <a:avLst/>
          </a:prstGeom>
          <a:solidFill>
            <a:srgbClr val="0B173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16736" y="4229100"/>
            <a:ext cx="7589520" cy="301752"/>
          </a:xfrm>
          <a:prstGeom prst="rect">
            <a:avLst/>
          </a:prstGeom>
          <a:noFill/>
        </p:spPr>
        <p:txBody>
          <a:bodyPr wrap="square" anchor="t" lIns="0" rIns="0" tIns="0" bIns="0">
            <a:spAutoFit/>
          </a:bodyPr>
          <a:lstStyle/>
          <a:p>
            <a:pPr algn="l">
              <a:lnSpc>
                <a:spcPct val="100000"/>
              </a:lnSpc>
              <a:spcAft>
                <a:spcPts val="0"/>
              </a:spcAft>
            </a:pPr>
            <a:r>
              <a:rPr sz="1050" b="1">
                <a:solidFill>
                  <a:srgbClr val="FFFFFF"/>
                </a:solidFill>
                <a:latin typeface="Arial"/>
              </a:rPr>
              <a:t>Condition</a:t>
            </a:r>
          </a:p>
        </p:txBody>
      </p:sp>
      <p:sp>
        <p:nvSpPr>
          <p:cNvPr id="39" name="Rectangle 38"/>
          <p:cNvSpPr/>
          <p:nvPr/>
        </p:nvSpPr>
        <p:spPr>
          <a:xfrm>
            <a:off x="8979408" y="4151376"/>
            <a:ext cx="2560320" cy="301752"/>
          </a:xfrm>
          <a:prstGeom prst="rect">
            <a:avLst/>
          </a:prstGeom>
          <a:solidFill>
            <a:srgbClr val="0B173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89136" y="4229100"/>
            <a:ext cx="2377440" cy="301752"/>
          </a:xfrm>
          <a:prstGeom prst="rect">
            <a:avLst/>
          </a:prstGeom>
          <a:noFill/>
        </p:spPr>
        <p:txBody>
          <a:bodyPr wrap="square" anchor="t" lIns="0" rIns="0" tIns="0" bIns="0">
            <a:spAutoFit/>
          </a:bodyPr>
          <a:lstStyle/>
          <a:p>
            <a:pPr algn="l">
              <a:lnSpc>
                <a:spcPct val="100000"/>
              </a:lnSpc>
              <a:spcAft>
                <a:spcPts val="0"/>
              </a:spcAft>
            </a:pPr>
            <a:r>
              <a:rPr sz="1050" b="1">
                <a:solidFill>
                  <a:srgbClr val="FFFFFF"/>
                </a:solidFill>
                <a:latin typeface="Arial"/>
              </a:rPr>
              <a:t>Route</a:t>
            </a:r>
          </a:p>
        </p:txBody>
      </p:sp>
      <p:sp>
        <p:nvSpPr>
          <p:cNvPr id="41" name="Rectangle 40"/>
          <p:cNvSpPr/>
          <p:nvPr/>
        </p:nvSpPr>
        <p:spPr>
          <a:xfrm>
            <a:off x="658368" y="4453128"/>
            <a:ext cx="548640" cy="30175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4530852"/>
            <a:ext cx="36576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1</a:t>
            </a:r>
          </a:p>
        </p:txBody>
      </p:sp>
      <p:sp>
        <p:nvSpPr>
          <p:cNvPr id="43" name="Rectangle 42"/>
          <p:cNvSpPr/>
          <p:nvPr/>
        </p:nvSpPr>
        <p:spPr>
          <a:xfrm>
            <a:off x="1207008" y="4453128"/>
            <a:ext cx="7772400" cy="30175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316736" y="4530852"/>
            <a:ext cx="758952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Model failure or MCP failure</a:t>
            </a:r>
          </a:p>
        </p:txBody>
      </p:sp>
      <p:sp>
        <p:nvSpPr>
          <p:cNvPr id="45" name="Rectangle 44"/>
          <p:cNvSpPr/>
          <p:nvPr/>
        </p:nvSpPr>
        <p:spPr>
          <a:xfrm>
            <a:off x="8979408" y="4453128"/>
            <a:ext cx="2560320" cy="30175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89136" y="4530852"/>
            <a:ext cx="237744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ESCALATE</a:t>
            </a:r>
          </a:p>
        </p:txBody>
      </p:sp>
      <p:sp>
        <p:nvSpPr>
          <p:cNvPr id="47" name="Rectangle 46"/>
          <p:cNvSpPr/>
          <p:nvPr/>
        </p:nvSpPr>
        <p:spPr>
          <a:xfrm>
            <a:off x="658368" y="4754880"/>
            <a:ext cx="548640" cy="301752"/>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8096" y="4832604"/>
            <a:ext cx="36576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2</a:t>
            </a:r>
          </a:p>
        </p:txBody>
      </p:sp>
      <p:sp>
        <p:nvSpPr>
          <p:cNvPr id="49" name="Rectangle 48"/>
          <p:cNvSpPr/>
          <p:nvPr/>
        </p:nvSpPr>
        <p:spPr>
          <a:xfrm>
            <a:off x="1207008" y="4754880"/>
            <a:ext cx="7772400" cy="301752"/>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16736" y="4832604"/>
            <a:ext cx="758952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Any high-risk control fires</a:t>
            </a:r>
          </a:p>
        </p:txBody>
      </p:sp>
      <p:sp>
        <p:nvSpPr>
          <p:cNvPr id="51" name="Rectangle 50"/>
          <p:cNvSpPr/>
          <p:nvPr/>
        </p:nvSpPr>
        <p:spPr>
          <a:xfrm>
            <a:off x="8979408" y="4754880"/>
            <a:ext cx="2560320" cy="301752"/>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89136" y="4832604"/>
            <a:ext cx="237744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ESCALATE</a:t>
            </a:r>
          </a:p>
        </p:txBody>
      </p:sp>
      <p:sp>
        <p:nvSpPr>
          <p:cNvPr id="53" name="Rectangle 52"/>
          <p:cNvSpPr/>
          <p:nvPr/>
        </p:nvSpPr>
        <p:spPr>
          <a:xfrm>
            <a:off x="658368" y="5056632"/>
            <a:ext cx="548640" cy="30175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8096" y="5134356"/>
            <a:ext cx="36576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3</a:t>
            </a:r>
          </a:p>
        </p:txBody>
      </p:sp>
      <p:sp>
        <p:nvSpPr>
          <p:cNvPr id="55" name="Rectangle 54"/>
          <p:cNvSpPr/>
          <p:nvPr/>
        </p:nvSpPr>
        <p:spPr>
          <a:xfrm>
            <a:off x="1207008" y="5056632"/>
            <a:ext cx="7772400" cy="30175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316736" y="5134356"/>
            <a:ext cx="758952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A required fact is missing, with no higher risk</a:t>
            </a:r>
          </a:p>
        </p:txBody>
      </p:sp>
      <p:sp>
        <p:nvSpPr>
          <p:cNvPr id="57" name="Rectangle 56"/>
          <p:cNvSpPr/>
          <p:nvPr/>
        </p:nvSpPr>
        <p:spPr>
          <a:xfrm>
            <a:off x="8979408" y="5056632"/>
            <a:ext cx="2560320" cy="30175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89136" y="5134356"/>
            <a:ext cx="237744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CLARIFY</a:t>
            </a:r>
          </a:p>
        </p:txBody>
      </p:sp>
      <p:sp>
        <p:nvSpPr>
          <p:cNvPr id="59" name="Rectangle 58"/>
          <p:cNvSpPr/>
          <p:nvPr/>
        </p:nvSpPr>
        <p:spPr>
          <a:xfrm>
            <a:off x="658368" y="5358384"/>
            <a:ext cx="548640" cy="301752"/>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8096" y="5436108"/>
            <a:ext cx="36576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4</a:t>
            </a:r>
          </a:p>
        </p:txBody>
      </p:sp>
      <p:sp>
        <p:nvSpPr>
          <p:cNvPr id="61" name="Rectangle 60"/>
          <p:cNvSpPr/>
          <p:nvPr/>
        </p:nvSpPr>
        <p:spPr>
          <a:xfrm>
            <a:off x="1207008" y="5358384"/>
            <a:ext cx="7772400" cy="301752"/>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316736" y="5436108"/>
            <a:ext cx="758952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Low confidence, or article score below KB_THRESHOLD</a:t>
            </a:r>
          </a:p>
        </p:txBody>
      </p:sp>
      <p:sp>
        <p:nvSpPr>
          <p:cNvPr id="63" name="Rectangle 62"/>
          <p:cNvSpPr/>
          <p:nvPr/>
        </p:nvSpPr>
        <p:spPr>
          <a:xfrm>
            <a:off x="8979408" y="5358384"/>
            <a:ext cx="2560320" cy="301752"/>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089136" y="5436108"/>
            <a:ext cx="237744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ESCALATE</a:t>
            </a:r>
          </a:p>
        </p:txBody>
      </p:sp>
      <p:sp>
        <p:nvSpPr>
          <p:cNvPr id="65" name="Rectangle 64"/>
          <p:cNvSpPr/>
          <p:nvPr/>
        </p:nvSpPr>
        <p:spPr>
          <a:xfrm>
            <a:off x="658368" y="5660136"/>
            <a:ext cx="548640" cy="30175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68096" y="5737860"/>
            <a:ext cx="36576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5</a:t>
            </a:r>
          </a:p>
        </p:txBody>
      </p:sp>
      <p:sp>
        <p:nvSpPr>
          <p:cNvPr id="67" name="Rectangle 66"/>
          <p:cNvSpPr/>
          <p:nvPr/>
        </p:nvSpPr>
        <p:spPr>
          <a:xfrm>
            <a:off x="1207008" y="5660136"/>
            <a:ext cx="7772400" cy="30175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316736" y="5737860"/>
            <a:ext cx="758952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Otherwise — generate from passages, then validate</a:t>
            </a:r>
          </a:p>
        </p:txBody>
      </p:sp>
      <p:sp>
        <p:nvSpPr>
          <p:cNvPr id="69" name="Rectangle 68"/>
          <p:cNvSpPr/>
          <p:nvPr/>
        </p:nvSpPr>
        <p:spPr>
          <a:xfrm>
            <a:off x="8979408" y="5660136"/>
            <a:ext cx="2560320" cy="30175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089136" y="5737860"/>
            <a:ext cx="2377440" cy="301752"/>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AUTO_RESOLVE</a:t>
            </a:r>
          </a:p>
        </p:txBody>
      </p:sp>
      <p:sp>
        <p:nvSpPr>
          <p:cNvPr id="71" name="TextBox 70"/>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72" name="TextBox 71"/>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TOOL USE</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Why the MCP boundary is real, not decorative</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847088"/>
            <a:ext cx="5577840" cy="4023360"/>
          </a:xfrm>
          <a:prstGeom prst="rect">
            <a:avLst/>
          </a:prstGeom>
          <a:noFill/>
        </p:spPr>
        <p:txBody>
          <a:bodyPr wrap="square" lIns="0" rIns="0" tIns="0" bIns="0">
            <a:spAutoFit/>
          </a:bodyPr>
          <a:lstStyle/>
          <a:p>
            <a:pPr>
              <a:lnSpc>
                <a:spcPct val="118000"/>
              </a:lnSpc>
              <a:spcAft>
                <a:spcPts val="1100"/>
              </a:spcAft>
            </a:pPr>
            <a:r>
              <a:rPr sz="1400" b="1">
                <a:solidFill>
                  <a:srgbClr val="4F46E5"/>
                </a:solidFill>
                <a:latin typeface="Arial"/>
              </a:rPr>
              <a:t>▪  </a:t>
            </a:r>
            <a:r>
              <a:rPr sz="1400" b="1">
                <a:solidFill>
                  <a:srgbClr val="172033"/>
                </a:solidFill>
                <a:latin typeface="Arial"/>
              </a:rPr>
              <a:t>A separate OS process. </a:t>
            </a:r>
            <a:r>
              <a:rPr sz="1400">
                <a:solidFill>
                  <a:srgbClr val="596579"/>
                </a:solidFill>
                <a:latin typeface="Arial"/>
              </a:rPr>
              <a:t>MCPClient launches app/mcp_server.py with sys.executable and opens a client session over stdio.</a:t>
            </a:r>
          </a:p>
          <a:p>
            <a:pPr>
              <a:lnSpc>
                <a:spcPct val="118000"/>
              </a:lnSpc>
              <a:spcAft>
                <a:spcPts val="1100"/>
              </a:spcAft>
            </a:pPr>
            <a:r>
              <a:rPr sz="1400" b="1">
                <a:solidFill>
                  <a:srgbClr val="4F46E5"/>
                </a:solidFill>
                <a:latin typeface="Arial"/>
              </a:rPr>
              <a:t>▪  </a:t>
            </a:r>
            <a:r>
              <a:rPr sz="1400" b="1">
                <a:solidFill>
                  <a:srgbClr val="172033"/>
                </a:solidFill>
                <a:latin typeface="Arial"/>
              </a:rPr>
              <a:t>No in-process shortcut. </a:t>
            </a:r>
            <a:r>
              <a:rPr sz="1400">
                <a:solidFill>
                  <a:srgbClr val="596579"/>
                </a:solidFill>
                <a:latin typeface="Arial"/>
              </a:rPr>
              <a:t>The graph never imports or calls the server's search function directly — the only path is the tool call.</a:t>
            </a:r>
          </a:p>
          <a:p>
            <a:pPr>
              <a:lnSpc>
                <a:spcPct val="118000"/>
              </a:lnSpc>
              <a:spcAft>
                <a:spcPts val="1100"/>
              </a:spcAft>
            </a:pPr>
            <a:r>
              <a:rPr sz="1400" b="1">
                <a:solidFill>
                  <a:srgbClr val="4F46E5"/>
                </a:solidFill>
                <a:latin typeface="Arial"/>
              </a:rPr>
              <a:t>▪  </a:t>
            </a:r>
            <a:r>
              <a:rPr sz="1400" b="1">
                <a:solidFill>
                  <a:srgbClr val="172033"/>
                </a:solidFill>
                <a:latin typeface="Arial"/>
              </a:rPr>
              <a:t>Verified under Docker. </a:t>
            </a:r>
            <a:r>
              <a:rPr sz="1400">
                <a:solidFill>
                  <a:srgbClr val="596579"/>
                </a:solidFill>
                <a:latin typeface="Arial"/>
              </a:rPr>
              <a:t>The full suite passes inside the container, which exercises subprocess spawning end to end.</a:t>
            </a:r>
          </a:p>
        </p:txBody>
      </p:sp>
      <p:sp>
        <p:nvSpPr>
          <p:cNvPr id="8" name="Rectangle 7"/>
          <p:cNvSpPr/>
          <p:nvPr/>
        </p:nvSpPr>
        <p:spPr>
          <a:xfrm>
            <a:off x="6537960" y="1847088"/>
            <a:ext cx="4983480" cy="239572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37960" y="1847088"/>
            <a:ext cx="4983480"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39128" y="2084832"/>
            <a:ext cx="4581144" cy="274320"/>
          </a:xfrm>
          <a:prstGeom prst="rect">
            <a:avLst/>
          </a:prstGeom>
          <a:noFill/>
        </p:spPr>
        <p:txBody>
          <a:bodyPr wrap="square" anchor="t" lIns="0" rIns="0" tIns="0" bIns="0">
            <a:spAutoFit/>
          </a:bodyPr>
          <a:lstStyle/>
          <a:p>
            <a:pPr algn="l">
              <a:lnSpc>
                <a:spcPct val="100000"/>
              </a:lnSpc>
              <a:spcAft>
                <a:spcPts val="400"/>
              </a:spcAft>
            </a:pPr>
            <a:r>
              <a:rPr sz="1300" b="1">
                <a:solidFill>
                  <a:srgbClr val="0B1739"/>
                </a:solidFill>
                <a:latin typeface="Arial"/>
              </a:rPr>
              <a:t>What the trace records</a:t>
            </a:r>
          </a:p>
        </p:txBody>
      </p:sp>
      <p:sp>
        <p:nvSpPr>
          <p:cNvPr id="11" name="TextBox 10"/>
          <p:cNvSpPr txBox="1"/>
          <p:nvPr/>
        </p:nvSpPr>
        <p:spPr>
          <a:xfrm>
            <a:off x="6739128" y="2414016"/>
            <a:ext cx="4581144" cy="1664208"/>
          </a:xfrm>
          <a:prstGeom prst="rect">
            <a:avLst/>
          </a:prstGeom>
          <a:noFill/>
        </p:spPr>
        <p:txBody>
          <a:bodyPr wrap="square" anchor="t" lIns="0" rIns="0" tIns="0" bIns="0">
            <a:spAutoFit/>
          </a:bodyPr>
          <a:lstStyle/>
          <a:p>
            <a:pPr algn="l">
              <a:lnSpc>
                <a:spcPct val="116000"/>
              </a:lnSpc>
              <a:spcAft>
                <a:spcPts val="0"/>
              </a:spcAft>
            </a:pPr>
            <a:r>
              <a:rPr sz="1100" b="0">
                <a:solidFill>
                  <a:srgbClr val="596579"/>
                </a:solidFill>
                <a:latin typeface="Arial"/>
              </a:rPr>
              <a:t>Tool name  ·  transport  ·  the exact query and category  ·  top_k  ·  every match returned  ·  each score component  ·  reranked position  ·  measured duration.
This is what makes the demo checkable rather than assertable.</a:t>
            </a:r>
          </a:p>
        </p:txBody>
      </p:sp>
      <p:sp>
        <p:nvSpPr>
          <p:cNvPr id="12" name="Rectangle 11"/>
          <p:cNvSpPr/>
          <p:nvPr/>
        </p:nvSpPr>
        <p:spPr>
          <a:xfrm>
            <a:off x="658368" y="4553712"/>
            <a:ext cx="10881360" cy="1097280"/>
          </a:xfrm>
          <a:prstGeom prst="rect">
            <a:avLst/>
          </a:prstGeom>
          <a:solidFill>
            <a:srgbClr val="FFF7ED"/>
          </a:solidFill>
          <a:ln w="12700">
            <a:solidFill>
              <a:srgbClr val="FDB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718304"/>
            <a:ext cx="10332720" cy="786384"/>
          </a:xfrm>
          <a:prstGeom prst="rect">
            <a:avLst/>
          </a:prstGeom>
          <a:noFill/>
        </p:spPr>
        <p:txBody>
          <a:bodyPr wrap="square" anchor="t" lIns="0" rIns="0" tIns="0" bIns="0">
            <a:spAutoFit/>
          </a:bodyPr>
          <a:lstStyle/>
          <a:p>
            <a:pPr algn="l">
              <a:lnSpc>
                <a:spcPct val="100000"/>
              </a:lnSpc>
              <a:spcAft>
                <a:spcPts val="0"/>
              </a:spcAft>
            </a:pPr>
            <a:r>
              <a:rPr sz="1200" b="1">
                <a:solidFill>
                  <a:srgbClr val="9A3412"/>
                </a:solidFill>
                <a:latin typeface="Arial"/>
              </a:rPr>
              <a:t>Honest trade-off: </a:t>
            </a:r>
          </a:p>
        </p:txBody>
      </p:sp>
      <p:sp>
        <p:nvSpPr>
          <p:cNvPr id="14" name="TextBox 13"/>
          <p:cNvSpPr txBox="1"/>
          <p:nvPr/>
        </p:nvSpPr>
        <p:spPr>
          <a:xfrm>
            <a:off x="2212848" y="4718304"/>
            <a:ext cx="9052560" cy="786384"/>
          </a:xfrm>
          <a:prstGeom prst="rect">
            <a:avLst/>
          </a:prstGeom>
          <a:noFill/>
        </p:spPr>
        <p:txBody>
          <a:bodyPr wrap="square" anchor="t" lIns="0" rIns="0" tIns="0" bIns="0">
            <a:spAutoFit/>
          </a:bodyPr>
          <a:lstStyle/>
          <a:p>
            <a:pPr algn="l">
              <a:lnSpc>
                <a:spcPct val="118000"/>
              </a:lnSpc>
              <a:spcAft>
                <a:spcPts val="0"/>
              </a:spcAft>
            </a:pPr>
            <a:r>
              <a:rPr sz="1200" b="0">
                <a:solidFill>
                  <a:srgbClr val="172033"/>
                </a:solidFill>
                <a:latin typeface="Arial"/>
              </a:rPr>
              <a:t>every lookup starts a short-lived server process. That favours visible isolation over throughput. A pooled long-lived session is the obvious production change.</a:t>
            </a:r>
          </a:p>
        </p:txBody>
      </p:sp>
      <p:sp>
        <p:nvSpPr>
          <p:cNvPr id="15" name="TextBox 14"/>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16" name="TextBox 15"/>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ENGINEERING</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How it was built</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1920240" cy="384048"/>
          </a:xfrm>
          <a:prstGeom prst="rect">
            <a:avLst/>
          </a:prstGeom>
          <a:solidFill>
            <a:srgbClr val="0B173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906524"/>
            <a:ext cx="1737360" cy="384048"/>
          </a:xfrm>
          <a:prstGeom prst="rect">
            <a:avLst/>
          </a:prstGeom>
          <a:noFill/>
        </p:spPr>
        <p:txBody>
          <a:bodyPr wrap="square" anchor="t" lIns="0" rIns="0" tIns="0" bIns="0">
            <a:spAutoFit/>
          </a:bodyPr>
          <a:lstStyle/>
          <a:p>
            <a:pPr algn="l">
              <a:lnSpc>
                <a:spcPct val="100000"/>
              </a:lnSpc>
              <a:spcAft>
                <a:spcPts val="0"/>
              </a:spcAft>
            </a:pPr>
            <a:r>
              <a:rPr sz="1100" b="1">
                <a:solidFill>
                  <a:srgbClr val="FFFFFF"/>
                </a:solidFill>
                <a:latin typeface="Arial"/>
              </a:rPr>
              <a:t>Layer</a:t>
            </a:r>
          </a:p>
        </p:txBody>
      </p:sp>
      <p:sp>
        <p:nvSpPr>
          <p:cNvPr id="9" name="Rectangle 8"/>
          <p:cNvSpPr/>
          <p:nvPr/>
        </p:nvSpPr>
        <p:spPr>
          <a:xfrm>
            <a:off x="2578608" y="1828800"/>
            <a:ext cx="2834640" cy="384048"/>
          </a:xfrm>
          <a:prstGeom prst="rect">
            <a:avLst/>
          </a:prstGeom>
          <a:solidFill>
            <a:srgbClr val="0B173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88336" y="1906524"/>
            <a:ext cx="2651760" cy="384048"/>
          </a:xfrm>
          <a:prstGeom prst="rect">
            <a:avLst/>
          </a:prstGeom>
          <a:noFill/>
        </p:spPr>
        <p:txBody>
          <a:bodyPr wrap="square" anchor="t" lIns="0" rIns="0" tIns="0" bIns="0">
            <a:spAutoFit/>
          </a:bodyPr>
          <a:lstStyle/>
          <a:p>
            <a:pPr algn="l">
              <a:lnSpc>
                <a:spcPct val="100000"/>
              </a:lnSpc>
              <a:spcAft>
                <a:spcPts val="0"/>
              </a:spcAft>
            </a:pPr>
            <a:r>
              <a:rPr sz="1100" b="1">
                <a:solidFill>
                  <a:srgbClr val="FFFFFF"/>
                </a:solidFill>
                <a:latin typeface="Arial"/>
              </a:rPr>
              <a:t>Choice</a:t>
            </a:r>
          </a:p>
        </p:txBody>
      </p:sp>
      <p:sp>
        <p:nvSpPr>
          <p:cNvPr id="11" name="Rectangle 10"/>
          <p:cNvSpPr/>
          <p:nvPr/>
        </p:nvSpPr>
        <p:spPr>
          <a:xfrm>
            <a:off x="5413248" y="1828800"/>
            <a:ext cx="6126480" cy="384048"/>
          </a:xfrm>
          <a:prstGeom prst="rect">
            <a:avLst/>
          </a:prstGeom>
          <a:solidFill>
            <a:srgbClr val="0B173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22976" y="1906524"/>
            <a:ext cx="5943600" cy="384048"/>
          </a:xfrm>
          <a:prstGeom prst="rect">
            <a:avLst/>
          </a:prstGeom>
          <a:noFill/>
        </p:spPr>
        <p:txBody>
          <a:bodyPr wrap="square" anchor="t" lIns="0" rIns="0" tIns="0" bIns="0">
            <a:spAutoFit/>
          </a:bodyPr>
          <a:lstStyle/>
          <a:p>
            <a:pPr algn="l">
              <a:lnSpc>
                <a:spcPct val="100000"/>
              </a:lnSpc>
              <a:spcAft>
                <a:spcPts val="0"/>
              </a:spcAft>
            </a:pPr>
            <a:r>
              <a:rPr sz="1100" b="1">
                <a:solidFill>
                  <a:srgbClr val="FFFFFF"/>
                </a:solidFill>
                <a:latin typeface="Arial"/>
              </a:rPr>
              <a:t>Why</a:t>
            </a:r>
          </a:p>
        </p:txBody>
      </p:sp>
      <p:sp>
        <p:nvSpPr>
          <p:cNvPr id="13" name="Rectangle 12"/>
          <p:cNvSpPr/>
          <p:nvPr/>
        </p:nvSpPr>
        <p:spPr>
          <a:xfrm>
            <a:off x="658368" y="2212848"/>
            <a:ext cx="1920240" cy="38404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290572"/>
            <a:ext cx="17373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Agent graph</a:t>
            </a:r>
          </a:p>
        </p:txBody>
      </p:sp>
      <p:sp>
        <p:nvSpPr>
          <p:cNvPr id="15" name="Rectangle 14"/>
          <p:cNvSpPr/>
          <p:nvPr/>
        </p:nvSpPr>
        <p:spPr>
          <a:xfrm>
            <a:off x="2578608" y="2212848"/>
            <a:ext cx="2834640" cy="38404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88336" y="2290572"/>
            <a:ext cx="26517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LangGraph</a:t>
            </a:r>
          </a:p>
        </p:txBody>
      </p:sp>
      <p:sp>
        <p:nvSpPr>
          <p:cNvPr id="17" name="Rectangle 16"/>
          <p:cNvSpPr/>
          <p:nvPr/>
        </p:nvSpPr>
        <p:spPr>
          <a:xfrm>
            <a:off x="5413248" y="2212848"/>
            <a:ext cx="6126480" cy="38404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22976" y="2290572"/>
            <a:ext cx="594360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Inspectable state machine; every node emits a typed trace event</a:t>
            </a:r>
          </a:p>
        </p:txBody>
      </p:sp>
      <p:sp>
        <p:nvSpPr>
          <p:cNvPr id="19" name="Rectangle 18"/>
          <p:cNvSpPr/>
          <p:nvPr/>
        </p:nvSpPr>
        <p:spPr>
          <a:xfrm>
            <a:off x="658368" y="2596896"/>
            <a:ext cx="1920240" cy="384048"/>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674620"/>
            <a:ext cx="17373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Tool boundary</a:t>
            </a:r>
          </a:p>
        </p:txBody>
      </p:sp>
      <p:sp>
        <p:nvSpPr>
          <p:cNvPr id="21" name="Rectangle 20"/>
          <p:cNvSpPr/>
          <p:nvPr/>
        </p:nvSpPr>
        <p:spPr>
          <a:xfrm>
            <a:off x="2578608" y="2596896"/>
            <a:ext cx="2834640" cy="384048"/>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88336" y="2674620"/>
            <a:ext cx="26517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FastMCP over stdio</a:t>
            </a:r>
          </a:p>
        </p:txBody>
      </p:sp>
      <p:sp>
        <p:nvSpPr>
          <p:cNvPr id="23" name="Rectangle 22"/>
          <p:cNvSpPr/>
          <p:nvPr/>
        </p:nvSpPr>
        <p:spPr>
          <a:xfrm>
            <a:off x="5413248" y="2596896"/>
            <a:ext cx="6126480" cy="384048"/>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22976" y="2674620"/>
            <a:ext cx="594360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A genuine client/server process split, not a local call</a:t>
            </a:r>
          </a:p>
        </p:txBody>
      </p:sp>
      <p:sp>
        <p:nvSpPr>
          <p:cNvPr id="25" name="Rectangle 24"/>
          <p:cNvSpPr/>
          <p:nvPr/>
        </p:nvSpPr>
        <p:spPr>
          <a:xfrm>
            <a:off x="658368" y="2980944"/>
            <a:ext cx="1920240" cy="38404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058668"/>
            <a:ext cx="17373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Article store</a:t>
            </a:r>
          </a:p>
        </p:txBody>
      </p:sp>
      <p:sp>
        <p:nvSpPr>
          <p:cNvPr id="27" name="Rectangle 26"/>
          <p:cNvSpPr/>
          <p:nvPr/>
        </p:nvSpPr>
        <p:spPr>
          <a:xfrm>
            <a:off x="2578608" y="2980944"/>
            <a:ext cx="2834640" cy="38404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88336" y="3058668"/>
            <a:ext cx="26517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SQLite</a:t>
            </a:r>
          </a:p>
        </p:txBody>
      </p:sp>
      <p:sp>
        <p:nvSpPr>
          <p:cNvPr id="29" name="Rectangle 28"/>
          <p:cNvSpPr/>
          <p:nvPr/>
        </p:nvSpPr>
        <p:spPr>
          <a:xfrm>
            <a:off x="5413248" y="2980944"/>
            <a:ext cx="6126480" cy="38404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22976" y="3058668"/>
            <a:ext cx="594360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Durable source of truth for text, provenance, timestamps</a:t>
            </a:r>
          </a:p>
        </p:txBody>
      </p:sp>
      <p:sp>
        <p:nvSpPr>
          <p:cNvPr id="31" name="Rectangle 30"/>
          <p:cNvSpPr/>
          <p:nvPr/>
        </p:nvSpPr>
        <p:spPr>
          <a:xfrm>
            <a:off x="658368" y="3364992"/>
            <a:ext cx="1920240" cy="384048"/>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442716"/>
            <a:ext cx="17373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Vector index</a:t>
            </a:r>
          </a:p>
        </p:txBody>
      </p:sp>
      <p:sp>
        <p:nvSpPr>
          <p:cNvPr id="33" name="Rectangle 32"/>
          <p:cNvSpPr/>
          <p:nvPr/>
        </p:nvSpPr>
        <p:spPr>
          <a:xfrm>
            <a:off x="2578608" y="3364992"/>
            <a:ext cx="2834640" cy="384048"/>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88336" y="3442716"/>
            <a:ext cx="26517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Qdrant, local persistent</a:t>
            </a:r>
          </a:p>
        </p:txBody>
      </p:sp>
      <p:sp>
        <p:nvSpPr>
          <p:cNvPr id="35" name="Rectangle 34"/>
          <p:cNvSpPr/>
          <p:nvPr/>
        </p:nvSpPr>
        <p:spPr>
          <a:xfrm>
            <a:off x="5413248" y="3364992"/>
            <a:ext cx="6126480" cy="384048"/>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22976" y="3442716"/>
            <a:ext cx="594360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Dedicated dense index; survives restarts</a:t>
            </a:r>
          </a:p>
        </p:txBody>
      </p:sp>
      <p:sp>
        <p:nvSpPr>
          <p:cNvPr id="37" name="Rectangle 36"/>
          <p:cNvSpPr/>
          <p:nvPr/>
        </p:nvSpPr>
        <p:spPr>
          <a:xfrm>
            <a:off x="658368" y="3749040"/>
            <a:ext cx="1920240" cy="38404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3826764"/>
            <a:ext cx="17373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Embeddings</a:t>
            </a:r>
          </a:p>
        </p:txBody>
      </p:sp>
      <p:sp>
        <p:nvSpPr>
          <p:cNvPr id="39" name="Rectangle 38"/>
          <p:cNvSpPr/>
          <p:nvPr/>
        </p:nvSpPr>
        <p:spPr>
          <a:xfrm>
            <a:off x="2578608" y="3749040"/>
            <a:ext cx="2834640" cy="38404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688336" y="3826764"/>
            <a:ext cx="26517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text-embedding-3-small</a:t>
            </a:r>
          </a:p>
        </p:txBody>
      </p:sp>
      <p:sp>
        <p:nvSpPr>
          <p:cNvPr id="41" name="Rectangle 40"/>
          <p:cNvSpPr/>
          <p:nvPr/>
        </p:nvSpPr>
        <p:spPr>
          <a:xfrm>
            <a:off x="5413248" y="3749040"/>
            <a:ext cx="6126480" cy="38404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22976" y="3826764"/>
            <a:ext cx="594360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1536 dimensions, low cost, strong paraphrase recall</a:t>
            </a:r>
          </a:p>
        </p:txBody>
      </p:sp>
      <p:sp>
        <p:nvSpPr>
          <p:cNvPr id="43" name="Rectangle 42"/>
          <p:cNvSpPr/>
          <p:nvPr/>
        </p:nvSpPr>
        <p:spPr>
          <a:xfrm>
            <a:off x="658368" y="4133088"/>
            <a:ext cx="1920240" cy="384048"/>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4210812"/>
            <a:ext cx="17373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Classifier</a:t>
            </a:r>
          </a:p>
        </p:txBody>
      </p:sp>
      <p:sp>
        <p:nvSpPr>
          <p:cNvPr id="45" name="Rectangle 44"/>
          <p:cNvSpPr/>
          <p:nvPr/>
        </p:nvSpPr>
        <p:spPr>
          <a:xfrm>
            <a:off x="2578608" y="4133088"/>
            <a:ext cx="2834640" cy="384048"/>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88336" y="4210812"/>
            <a:ext cx="26517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OpenAI, schema-validated</a:t>
            </a:r>
          </a:p>
        </p:txBody>
      </p:sp>
      <p:sp>
        <p:nvSpPr>
          <p:cNvPr id="47" name="Rectangle 46"/>
          <p:cNvSpPr/>
          <p:nvPr/>
        </p:nvSpPr>
        <p:spPr>
          <a:xfrm>
            <a:off x="5413248" y="4133088"/>
            <a:ext cx="6126480" cy="384048"/>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522976" y="4210812"/>
            <a:ext cx="594360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Typed output with one bounded repair attempt</a:t>
            </a:r>
          </a:p>
        </p:txBody>
      </p:sp>
      <p:sp>
        <p:nvSpPr>
          <p:cNvPr id="49" name="Rectangle 48"/>
          <p:cNvSpPr/>
          <p:nvPr/>
        </p:nvSpPr>
        <p:spPr>
          <a:xfrm>
            <a:off x="658368" y="4517136"/>
            <a:ext cx="1920240" cy="38404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096" y="4594860"/>
            <a:ext cx="17373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UI</a:t>
            </a:r>
          </a:p>
        </p:txBody>
      </p:sp>
      <p:sp>
        <p:nvSpPr>
          <p:cNvPr id="51" name="Rectangle 50"/>
          <p:cNvSpPr/>
          <p:nvPr/>
        </p:nvSpPr>
        <p:spPr>
          <a:xfrm>
            <a:off x="2578608" y="4517136"/>
            <a:ext cx="2834640" cy="38404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688336" y="4594860"/>
            <a:ext cx="26517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Streamlit + custom CSS</a:t>
            </a:r>
          </a:p>
        </p:txBody>
      </p:sp>
      <p:sp>
        <p:nvSpPr>
          <p:cNvPr id="53" name="Rectangle 52"/>
          <p:cNvSpPr/>
          <p:nvPr/>
        </p:nvSpPr>
        <p:spPr>
          <a:xfrm>
            <a:off x="5413248" y="4517136"/>
            <a:ext cx="6126480" cy="384048"/>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22976" y="4594860"/>
            <a:ext cx="594360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Operations dashboard in hours, not days</a:t>
            </a:r>
          </a:p>
        </p:txBody>
      </p:sp>
      <p:sp>
        <p:nvSpPr>
          <p:cNvPr id="55" name="Rectangle 54"/>
          <p:cNvSpPr/>
          <p:nvPr/>
        </p:nvSpPr>
        <p:spPr>
          <a:xfrm>
            <a:off x="658368" y="4901184"/>
            <a:ext cx="1920240" cy="384048"/>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8096" y="4978908"/>
            <a:ext cx="17373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Tests</a:t>
            </a:r>
          </a:p>
        </p:txBody>
      </p:sp>
      <p:sp>
        <p:nvSpPr>
          <p:cNvPr id="57" name="Rectangle 56"/>
          <p:cNvSpPr/>
          <p:nvPr/>
        </p:nvSpPr>
        <p:spPr>
          <a:xfrm>
            <a:off x="2578608" y="4901184"/>
            <a:ext cx="2834640" cy="384048"/>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88336" y="4978908"/>
            <a:ext cx="265176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pytest — 43 cases</a:t>
            </a:r>
          </a:p>
        </p:txBody>
      </p:sp>
      <p:sp>
        <p:nvSpPr>
          <p:cNvPr id="59" name="Rectangle 58"/>
          <p:cNvSpPr/>
          <p:nvPr/>
        </p:nvSpPr>
        <p:spPr>
          <a:xfrm>
            <a:off x="5413248" y="4901184"/>
            <a:ext cx="6126480" cy="384048"/>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522976" y="4978908"/>
            <a:ext cx="5943600" cy="384048"/>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Network-free fixtures; real graph, MCP, SQLite and Qdrant retained</a:t>
            </a:r>
          </a:p>
        </p:txBody>
      </p:sp>
      <p:sp>
        <p:nvSpPr>
          <p:cNvPr id="61" name="TextBox 60"/>
          <p:cNvSpPr txBox="1"/>
          <p:nvPr/>
        </p:nvSpPr>
        <p:spPr>
          <a:xfrm>
            <a:off x="658368" y="5504688"/>
            <a:ext cx="10881360" cy="457200"/>
          </a:xfrm>
          <a:prstGeom prst="rect">
            <a:avLst/>
          </a:prstGeom>
          <a:noFill/>
        </p:spPr>
        <p:txBody>
          <a:bodyPr wrap="square" anchor="t" lIns="0" rIns="0" tIns="0" bIns="0">
            <a:spAutoFit/>
          </a:bodyPr>
          <a:lstStyle/>
          <a:p>
            <a:pPr algn="l">
              <a:lnSpc>
                <a:spcPct val="118000"/>
              </a:lnSpc>
              <a:spcAft>
                <a:spcPts val="0"/>
              </a:spcAft>
            </a:pPr>
            <a:r>
              <a:rPr sz="1150" b="0">
                <a:solidFill>
                  <a:srgbClr val="596579"/>
                </a:solidFill>
                <a:latin typeface="Arial"/>
              </a:rPr>
              <a:t>Fifteen decisions are recorded in docs/DECISIONS.md, including the ones that were later superseded and why.</a:t>
            </a:r>
          </a:p>
        </p:txBody>
      </p:sp>
      <p:sp>
        <p:nvSpPr>
          <p:cNvPr id="62" name="TextBox 61"/>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63" name="TextBox 62"/>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FEATURES</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What shipped</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3456432" cy="356616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828800"/>
            <a:ext cx="3456432"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066543"/>
            <a:ext cx="3017520" cy="274320"/>
          </a:xfrm>
          <a:prstGeom prst="rect">
            <a:avLst/>
          </a:prstGeom>
          <a:noFill/>
        </p:spPr>
        <p:txBody>
          <a:bodyPr wrap="square" anchor="t" lIns="0" rIns="0" tIns="0" bIns="0">
            <a:spAutoFit/>
          </a:bodyPr>
          <a:lstStyle/>
          <a:p>
            <a:pPr algn="l">
              <a:lnSpc>
                <a:spcPct val="100000"/>
              </a:lnSpc>
              <a:spcAft>
                <a:spcPts val="0"/>
              </a:spcAft>
            </a:pPr>
            <a:r>
              <a:rPr sz="1400" b="1">
                <a:solidFill>
                  <a:srgbClr val="0B1739"/>
                </a:solidFill>
                <a:latin typeface="Arial"/>
              </a:rPr>
              <a:t>Triage</a:t>
            </a:r>
          </a:p>
        </p:txBody>
      </p:sp>
      <p:sp>
        <p:nvSpPr>
          <p:cNvPr id="10" name="TextBox 9"/>
          <p:cNvSpPr txBox="1"/>
          <p:nvPr/>
        </p:nvSpPr>
        <p:spPr>
          <a:xfrm>
            <a:off x="877824" y="2487168"/>
            <a:ext cx="3054096" cy="2743200"/>
          </a:xfrm>
          <a:prstGeom prst="rect">
            <a:avLst/>
          </a:prstGeom>
          <a:noFill/>
        </p:spPr>
        <p:txBody>
          <a:bodyPr wrap="square">
            <a:spAutoFit/>
          </a:bodyPr>
          <a:lstStyle/>
          <a:p>
            <a:pPr>
              <a:lnSpc>
                <a:spcPct val="114000"/>
              </a:lnSpc>
              <a:spcAft>
                <a:spcPts val="800"/>
              </a:spcAft>
            </a:pPr>
            <a:r>
              <a:rPr sz="1150" b="1">
                <a:solidFill>
                  <a:srgbClr val="4F46E5"/>
                </a:solidFill>
                <a:latin typeface="Arial"/>
              </a:rPr>
              <a:t>·  </a:t>
            </a:r>
            <a:r>
              <a:rPr sz="1150">
                <a:solidFill>
                  <a:srgbClr val="172033"/>
                </a:solidFill>
                <a:latin typeface="Arial"/>
              </a:rPr>
              <a:t>Guided 6-ticket demo</a:t>
            </a:r>
          </a:p>
          <a:p>
            <a:pPr>
              <a:lnSpc>
                <a:spcPct val="114000"/>
              </a:lnSpc>
              <a:spcAft>
                <a:spcPts val="800"/>
              </a:spcAft>
            </a:pPr>
            <a:r>
              <a:rPr sz="1150" b="1">
                <a:solidFill>
                  <a:srgbClr val="4F46E5"/>
                </a:solidFill>
                <a:latin typeface="Arial"/>
              </a:rPr>
              <a:t>·  </a:t>
            </a:r>
            <a:r>
              <a:rPr sz="1150">
                <a:solidFill>
                  <a:srgbClr val="172033"/>
                </a:solidFill>
                <a:latin typeface="Arial"/>
              </a:rPr>
              <a:t>Full 36-ticket batch</a:t>
            </a:r>
          </a:p>
          <a:p>
            <a:pPr>
              <a:lnSpc>
                <a:spcPct val="114000"/>
              </a:lnSpc>
              <a:spcAft>
                <a:spcPts val="800"/>
              </a:spcAft>
            </a:pPr>
            <a:r>
              <a:rPr sz="1150" b="1">
                <a:solidFill>
                  <a:srgbClr val="4F46E5"/>
                </a:solidFill>
                <a:latin typeface="Arial"/>
              </a:rPr>
              <a:t>·  </a:t>
            </a:r>
            <a:r>
              <a:rPr sz="1150">
                <a:solidFill>
                  <a:srgbClr val="172033"/>
                </a:solidFill>
                <a:latin typeface="Arial"/>
              </a:rPr>
              <a:t>CSV import up to 50</a:t>
            </a:r>
          </a:p>
          <a:p>
            <a:pPr>
              <a:lnSpc>
                <a:spcPct val="114000"/>
              </a:lnSpc>
              <a:spcAft>
                <a:spcPts val="800"/>
              </a:spcAft>
            </a:pPr>
            <a:r>
              <a:rPr sz="1150" b="1">
                <a:solidFill>
                  <a:srgbClr val="4F46E5"/>
                </a:solidFill>
                <a:latin typeface="Arial"/>
              </a:rPr>
              <a:t>·  </a:t>
            </a:r>
            <a:r>
              <a:rPr sz="1150">
                <a:solidFill>
                  <a:srgbClr val="172033"/>
                </a:solidFill>
                <a:latin typeface="Arial"/>
              </a:rPr>
              <a:t>Priority sorting + filters</a:t>
            </a:r>
          </a:p>
          <a:p>
            <a:pPr>
              <a:lnSpc>
                <a:spcPct val="114000"/>
              </a:lnSpc>
              <a:spcAft>
                <a:spcPts val="800"/>
              </a:spcAft>
            </a:pPr>
            <a:r>
              <a:rPr sz="1150" b="1">
                <a:solidFill>
                  <a:srgbClr val="4F46E5"/>
                </a:solidFill>
                <a:latin typeface="Arial"/>
              </a:rPr>
              <a:t>·  </a:t>
            </a:r>
            <a:r>
              <a:rPr sz="1150">
                <a:solidFill>
                  <a:srgbClr val="172033"/>
                </a:solidFill>
                <a:latin typeface="Arial"/>
              </a:rPr>
              <a:t>Response targets by urgency</a:t>
            </a:r>
          </a:p>
          <a:p>
            <a:pPr>
              <a:lnSpc>
                <a:spcPct val="114000"/>
              </a:lnSpc>
              <a:spcAft>
                <a:spcPts val="800"/>
              </a:spcAft>
            </a:pPr>
            <a:r>
              <a:rPr sz="1150" b="1">
                <a:solidFill>
                  <a:srgbClr val="4F46E5"/>
                </a:solidFill>
                <a:latin typeface="Arial"/>
              </a:rPr>
              <a:t>·  </a:t>
            </a:r>
            <a:r>
              <a:rPr sz="1150">
                <a:solidFill>
                  <a:srgbClr val="172033"/>
                </a:solidFill>
                <a:latin typeface="Arial"/>
              </a:rPr>
              <a:t>KPI row with time saved</a:t>
            </a:r>
          </a:p>
        </p:txBody>
      </p:sp>
      <p:sp>
        <p:nvSpPr>
          <p:cNvPr id="11" name="Rectangle 10"/>
          <p:cNvSpPr/>
          <p:nvPr/>
        </p:nvSpPr>
        <p:spPr>
          <a:xfrm>
            <a:off x="4315968" y="1828800"/>
            <a:ext cx="3456432" cy="356616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1828800"/>
            <a:ext cx="3456432"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2066543"/>
            <a:ext cx="3017520" cy="274320"/>
          </a:xfrm>
          <a:prstGeom prst="rect">
            <a:avLst/>
          </a:prstGeom>
          <a:noFill/>
        </p:spPr>
        <p:txBody>
          <a:bodyPr wrap="square" anchor="t" lIns="0" rIns="0" tIns="0" bIns="0">
            <a:spAutoFit/>
          </a:bodyPr>
          <a:lstStyle/>
          <a:p>
            <a:pPr algn="l">
              <a:lnSpc>
                <a:spcPct val="100000"/>
              </a:lnSpc>
              <a:spcAft>
                <a:spcPts val="0"/>
              </a:spcAft>
            </a:pPr>
            <a:r>
              <a:rPr sz="1400" b="1">
                <a:solidFill>
                  <a:srgbClr val="0B1739"/>
                </a:solidFill>
                <a:latin typeface="Arial"/>
              </a:rPr>
              <a:t>Evidence</a:t>
            </a:r>
          </a:p>
        </p:txBody>
      </p:sp>
      <p:sp>
        <p:nvSpPr>
          <p:cNvPr id="14" name="TextBox 13"/>
          <p:cNvSpPr txBox="1"/>
          <p:nvPr/>
        </p:nvSpPr>
        <p:spPr>
          <a:xfrm>
            <a:off x="4535424" y="2487168"/>
            <a:ext cx="3054096" cy="2743200"/>
          </a:xfrm>
          <a:prstGeom prst="rect">
            <a:avLst/>
          </a:prstGeom>
          <a:noFill/>
        </p:spPr>
        <p:txBody>
          <a:bodyPr wrap="square">
            <a:spAutoFit/>
          </a:bodyPr>
          <a:lstStyle/>
          <a:p>
            <a:pPr>
              <a:lnSpc>
                <a:spcPct val="114000"/>
              </a:lnSpc>
              <a:spcAft>
                <a:spcPts val="800"/>
              </a:spcAft>
            </a:pPr>
            <a:r>
              <a:rPr sz="1150" b="1">
                <a:solidFill>
                  <a:srgbClr val="4F46E5"/>
                </a:solidFill>
                <a:latin typeface="Arial"/>
              </a:rPr>
              <a:t>·  </a:t>
            </a:r>
            <a:r>
              <a:rPr sz="1150">
                <a:solidFill>
                  <a:srgbClr val="172033"/>
                </a:solidFill>
                <a:latin typeface="Arial"/>
              </a:rPr>
              <a:t>Node-by-node trace</a:t>
            </a:r>
          </a:p>
          <a:p>
            <a:pPr>
              <a:lnSpc>
                <a:spcPct val="114000"/>
              </a:lnSpc>
              <a:spcAft>
                <a:spcPts val="800"/>
              </a:spcAft>
            </a:pPr>
            <a:r>
              <a:rPr sz="1150" b="1">
                <a:solidFill>
                  <a:srgbClr val="4F46E5"/>
                </a:solidFill>
                <a:latin typeface="Arial"/>
              </a:rPr>
              <a:t>·  </a:t>
            </a:r>
            <a:r>
              <a:rPr sz="1150">
                <a:solidFill>
                  <a:srgbClr val="172033"/>
                </a:solidFill>
                <a:latin typeface="Arial"/>
              </a:rPr>
              <a:t>MCP request and response</a:t>
            </a:r>
          </a:p>
          <a:p>
            <a:pPr>
              <a:lnSpc>
                <a:spcPct val="114000"/>
              </a:lnSpc>
              <a:spcAft>
                <a:spcPts val="800"/>
              </a:spcAft>
            </a:pPr>
            <a:r>
              <a:rPr sz="1150" b="1">
                <a:solidFill>
                  <a:srgbClr val="4F46E5"/>
                </a:solidFill>
                <a:latin typeface="Arial"/>
              </a:rPr>
              <a:t>·  </a:t>
            </a:r>
            <a:r>
              <a:rPr sz="1150">
                <a:solidFill>
                  <a:srgbClr val="172033"/>
                </a:solidFill>
                <a:latin typeface="Arial"/>
              </a:rPr>
              <a:t>Rerank score components</a:t>
            </a:r>
          </a:p>
          <a:p>
            <a:pPr>
              <a:lnSpc>
                <a:spcPct val="114000"/>
              </a:lnSpc>
              <a:spcAft>
                <a:spcPts val="800"/>
              </a:spcAft>
            </a:pPr>
            <a:r>
              <a:rPr sz="1150" b="1">
                <a:solidFill>
                  <a:srgbClr val="4F46E5"/>
                </a:solidFill>
                <a:latin typeface="Arial"/>
              </a:rPr>
              <a:t>·  </a:t>
            </a:r>
            <a:r>
              <a:rPr sz="1150">
                <a:solidFill>
                  <a:srgbClr val="172033"/>
                </a:solidFill>
                <a:latin typeface="Arial"/>
              </a:rPr>
              <a:t>Exact article citations</a:t>
            </a:r>
          </a:p>
          <a:p>
            <a:pPr>
              <a:lnSpc>
                <a:spcPct val="114000"/>
              </a:lnSpc>
              <a:spcAft>
                <a:spcPts val="800"/>
              </a:spcAft>
            </a:pPr>
            <a:r>
              <a:rPr sz="1150" b="1">
                <a:solidFill>
                  <a:srgbClr val="4F46E5"/>
                </a:solidFill>
                <a:latin typeface="Arial"/>
              </a:rPr>
              <a:t>·  </a:t>
            </a:r>
            <a:r>
              <a:rPr sz="1150">
                <a:solidFill>
                  <a:srgbClr val="172033"/>
                </a:solidFill>
                <a:latin typeface="Arial"/>
              </a:rPr>
              <a:t>Grounding validation status</a:t>
            </a:r>
          </a:p>
          <a:p>
            <a:pPr>
              <a:lnSpc>
                <a:spcPct val="114000"/>
              </a:lnSpc>
              <a:spcAft>
                <a:spcPts val="800"/>
              </a:spcAft>
            </a:pPr>
            <a:r>
              <a:rPr sz="1150" b="1">
                <a:solidFill>
                  <a:srgbClr val="4F46E5"/>
                </a:solidFill>
                <a:latin typeface="Arial"/>
              </a:rPr>
              <a:t>·  </a:t>
            </a:r>
            <a:r>
              <a:rPr sz="1150">
                <a:solidFill>
                  <a:srgbClr val="172033"/>
                </a:solidFill>
                <a:latin typeface="Arial"/>
              </a:rPr>
              <a:t>CSV and JSON export</a:t>
            </a:r>
          </a:p>
        </p:txBody>
      </p:sp>
      <p:sp>
        <p:nvSpPr>
          <p:cNvPr id="15" name="Rectangle 14"/>
          <p:cNvSpPr/>
          <p:nvPr/>
        </p:nvSpPr>
        <p:spPr>
          <a:xfrm>
            <a:off x="7973568" y="1828800"/>
            <a:ext cx="3456432" cy="356616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73568" y="1828800"/>
            <a:ext cx="3456432"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2066543"/>
            <a:ext cx="3017520" cy="274320"/>
          </a:xfrm>
          <a:prstGeom prst="rect">
            <a:avLst/>
          </a:prstGeom>
          <a:noFill/>
        </p:spPr>
        <p:txBody>
          <a:bodyPr wrap="square" anchor="t" lIns="0" rIns="0" tIns="0" bIns="0">
            <a:spAutoFit/>
          </a:bodyPr>
          <a:lstStyle/>
          <a:p>
            <a:pPr algn="l">
              <a:lnSpc>
                <a:spcPct val="100000"/>
              </a:lnSpc>
              <a:spcAft>
                <a:spcPts val="0"/>
              </a:spcAft>
            </a:pPr>
            <a:r>
              <a:rPr sz="1400" b="1">
                <a:solidFill>
                  <a:srgbClr val="0B1739"/>
                </a:solidFill>
                <a:latin typeface="Arial"/>
              </a:rPr>
              <a:t>Control</a:t>
            </a:r>
          </a:p>
        </p:txBody>
      </p:sp>
      <p:sp>
        <p:nvSpPr>
          <p:cNvPr id="18" name="TextBox 17"/>
          <p:cNvSpPr txBox="1"/>
          <p:nvPr/>
        </p:nvSpPr>
        <p:spPr>
          <a:xfrm>
            <a:off x="8193024" y="2487168"/>
            <a:ext cx="3054096" cy="2743200"/>
          </a:xfrm>
          <a:prstGeom prst="rect">
            <a:avLst/>
          </a:prstGeom>
          <a:noFill/>
        </p:spPr>
        <p:txBody>
          <a:bodyPr wrap="square">
            <a:spAutoFit/>
          </a:bodyPr>
          <a:lstStyle/>
          <a:p>
            <a:pPr>
              <a:lnSpc>
                <a:spcPct val="114000"/>
              </a:lnSpc>
              <a:spcAft>
                <a:spcPts val="800"/>
              </a:spcAft>
            </a:pPr>
            <a:r>
              <a:rPr sz="1150" b="1">
                <a:solidFill>
                  <a:srgbClr val="4F46E5"/>
                </a:solidFill>
                <a:latin typeface="Arial"/>
              </a:rPr>
              <a:t>·  </a:t>
            </a:r>
            <a:r>
              <a:rPr sz="1150">
                <a:solidFill>
                  <a:srgbClr val="172033"/>
                </a:solidFill>
                <a:latin typeface="Arial"/>
              </a:rPr>
              <a:t>Human route override</a:t>
            </a:r>
          </a:p>
          <a:p>
            <a:pPr>
              <a:lnSpc>
                <a:spcPct val="114000"/>
              </a:lnSpc>
              <a:spcAft>
                <a:spcPts val="800"/>
              </a:spcAft>
            </a:pPr>
            <a:r>
              <a:rPr sz="1150" b="1">
                <a:solidFill>
                  <a:srgbClr val="4F46E5"/>
                </a:solidFill>
                <a:latin typeface="Arial"/>
              </a:rPr>
              <a:t>·  </a:t>
            </a:r>
            <a:r>
              <a:rPr sz="1150">
                <a:solidFill>
                  <a:srgbClr val="172033"/>
                </a:solidFill>
                <a:latin typeface="Arial"/>
              </a:rPr>
              <a:t>Session audit log</a:t>
            </a:r>
          </a:p>
          <a:p>
            <a:pPr>
              <a:lnSpc>
                <a:spcPct val="114000"/>
              </a:lnSpc>
              <a:spcAft>
                <a:spcPts val="800"/>
              </a:spcAft>
            </a:pPr>
            <a:r>
              <a:rPr sz="1150" b="1">
                <a:solidFill>
                  <a:srgbClr val="4F46E5"/>
                </a:solidFill>
                <a:latin typeface="Arial"/>
              </a:rPr>
              <a:t>·  </a:t>
            </a:r>
            <a:r>
              <a:rPr sz="1150">
                <a:solidFill>
                  <a:srgbClr val="172033"/>
                </a:solidFill>
                <a:latin typeface="Arial"/>
              </a:rPr>
              <a:t>Knowledge CRUD + ingestion</a:t>
            </a:r>
          </a:p>
          <a:p>
            <a:pPr>
              <a:lnSpc>
                <a:spcPct val="114000"/>
              </a:lnSpc>
              <a:spcAft>
                <a:spcPts val="800"/>
              </a:spcAft>
            </a:pPr>
            <a:r>
              <a:rPr sz="1150" b="1">
                <a:solidFill>
                  <a:srgbClr val="4F46E5"/>
                </a:solidFill>
                <a:latin typeface="Arial"/>
              </a:rPr>
              <a:t>·  </a:t>
            </a:r>
            <a:r>
              <a:rPr sz="1150">
                <a:solidFill>
                  <a:srgbClr val="172033"/>
                </a:solidFill>
                <a:latin typeface="Arial"/>
              </a:rPr>
              <a:t>Append or replace imports</a:t>
            </a:r>
          </a:p>
          <a:p>
            <a:pPr>
              <a:lnSpc>
                <a:spcPct val="114000"/>
              </a:lnSpc>
              <a:spcAft>
                <a:spcPts val="800"/>
              </a:spcAft>
            </a:pPr>
            <a:r>
              <a:rPr sz="1150" b="1">
                <a:solidFill>
                  <a:srgbClr val="4F46E5"/>
                </a:solidFill>
                <a:latin typeface="Arial"/>
              </a:rPr>
              <a:t>·  </a:t>
            </a:r>
            <a:r>
              <a:rPr sz="1150">
                <a:solidFill>
                  <a:srgbClr val="172033"/>
                </a:solidFill>
                <a:latin typeface="Arial"/>
              </a:rPr>
              <a:t>Built-in MCP search console</a:t>
            </a:r>
          </a:p>
          <a:p>
            <a:pPr>
              <a:lnSpc>
                <a:spcPct val="114000"/>
              </a:lnSpc>
              <a:spcAft>
                <a:spcPts val="800"/>
              </a:spcAft>
            </a:pPr>
            <a:r>
              <a:rPr sz="1150" b="1">
                <a:solidFill>
                  <a:srgbClr val="4F46E5"/>
                </a:solidFill>
                <a:latin typeface="Arial"/>
              </a:rPr>
              <a:t>·  </a:t>
            </a:r>
            <a:r>
              <a:rPr sz="1150">
                <a:solidFill>
                  <a:srgbClr val="172033"/>
                </a:solidFill>
                <a:latin typeface="Arial"/>
              </a:rPr>
              <a:t>Seven-gate quality check</a:t>
            </a:r>
          </a:p>
        </p:txBody>
      </p:sp>
      <p:sp>
        <p:nvSpPr>
          <p:cNvPr id="19" name="TextBox 18"/>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20" name="TextBox 19"/>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EVALUATION</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Measured results</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2542032" cy="124358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828800"/>
            <a:ext cx="2542032" cy="45720"/>
          </a:xfrm>
          <a:prstGeom prst="rect">
            <a:avLst/>
          </a:prstGeom>
          <a:solidFill>
            <a:srgbClr val="087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103120"/>
            <a:ext cx="2542032" cy="548640"/>
          </a:xfrm>
          <a:prstGeom prst="rect">
            <a:avLst/>
          </a:prstGeom>
          <a:noFill/>
        </p:spPr>
        <p:txBody>
          <a:bodyPr wrap="square" anchor="t" lIns="0" rIns="0" tIns="0" bIns="0">
            <a:spAutoFit/>
          </a:bodyPr>
          <a:lstStyle/>
          <a:p>
            <a:pPr algn="ctr">
              <a:lnSpc>
                <a:spcPct val="100000"/>
              </a:lnSpc>
              <a:spcAft>
                <a:spcPts val="0"/>
              </a:spcAft>
            </a:pPr>
            <a:r>
              <a:rPr sz="3000" b="1">
                <a:solidFill>
                  <a:srgbClr val="0B1739"/>
                </a:solidFill>
                <a:latin typeface="Arial"/>
              </a:rPr>
              <a:t>43</a:t>
            </a:r>
          </a:p>
        </p:txBody>
      </p:sp>
      <p:sp>
        <p:nvSpPr>
          <p:cNvPr id="10" name="TextBox 9"/>
          <p:cNvSpPr txBox="1"/>
          <p:nvPr/>
        </p:nvSpPr>
        <p:spPr>
          <a:xfrm>
            <a:off x="658368" y="2633472"/>
            <a:ext cx="2542032" cy="274320"/>
          </a:xfrm>
          <a:prstGeom prst="rect">
            <a:avLst/>
          </a:prstGeom>
          <a:noFill/>
        </p:spPr>
        <p:txBody>
          <a:bodyPr wrap="square" anchor="t" lIns="0" rIns="0" tIns="0" bIns="0">
            <a:spAutoFit/>
          </a:bodyPr>
          <a:lstStyle/>
          <a:p>
            <a:pPr algn="ctr">
              <a:lnSpc>
                <a:spcPct val="100000"/>
              </a:lnSpc>
              <a:spcAft>
                <a:spcPts val="0"/>
              </a:spcAft>
            </a:pPr>
            <a:r>
              <a:rPr sz="1100" b="0">
                <a:solidFill>
                  <a:srgbClr val="596579"/>
                </a:solidFill>
                <a:latin typeface="Arial"/>
              </a:rPr>
              <a:t>tests passing</a:t>
            </a:r>
          </a:p>
        </p:txBody>
      </p:sp>
      <p:sp>
        <p:nvSpPr>
          <p:cNvPr id="11" name="Rectangle 10"/>
          <p:cNvSpPr/>
          <p:nvPr/>
        </p:nvSpPr>
        <p:spPr>
          <a:xfrm>
            <a:off x="3401568" y="1828800"/>
            <a:ext cx="2542032" cy="124358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01568" y="1828800"/>
            <a:ext cx="2542032"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1568" y="2103120"/>
            <a:ext cx="2542032" cy="548640"/>
          </a:xfrm>
          <a:prstGeom prst="rect">
            <a:avLst/>
          </a:prstGeom>
          <a:noFill/>
        </p:spPr>
        <p:txBody>
          <a:bodyPr wrap="square" anchor="t" lIns="0" rIns="0" tIns="0" bIns="0">
            <a:spAutoFit/>
          </a:bodyPr>
          <a:lstStyle/>
          <a:p>
            <a:pPr algn="ctr">
              <a:lnSpc>
                <a:spcPct val="100000"/>
              </a:lnSpc>
              <a:spcAft>
                <a:spcPts val="0"/>
              </a:spcAft>
            </a:pPr>
            <a:r>
              <a:rPr sz="3000" b="1">
                <a:solidFill>
                  <a:srgbClr val="0B1739"/>
                </a:solidFill>
                <a:latin typeface="Arial"/>
              </a:rPr>
              <a:t>100%</a:t>
            </a:r>
          </a:p>
        </p:txBody>
      </p:sp>
      <p:sp>
        <p:nvSpPr>
          <p:cNvPr id="14" name="TextBox 13"/>
          <p:cNvSpPr txBox="1"/>
          <p:nvPr/>
        </p:nvSpPr>
        <p:spPr>
          <a:xfrm>
            <a:off x="3401568" y="2633472"/>
            <a:ext cx="2542032" cy="274320"/>
          </a:xfrm>
          <a:prstGeom prst="rect">
            <a:avLst/>
          </a:prstGeom>
          <a:noFill/>
        </p:spPr>
        <p:txBody>
          <a:bodyPr wrap="square" anchor="t" lIns="0" rIns="0" tIns="0" bIns="0">
            <a:spAutoFit/>
          </a:bodyPr>
          <a:lstStyle/>
          <a:p>
            <a:pPr algn="ctr">
              <a:lnSpc>
                <a:spcPct val="100000"/>
              </a:lnSpc>
              <a:spcAft>
                <a:spcPts val="0"/>
              </a:spcAft>
            </a:pPr>
            <a:r>
              <a:rPr sz="1100" b="0">
                <a:solidFill>
                  <a:srgbClr val="596579"/>
                </a:solidFill>
                <a:latin typeface="Arial"/>
              </a:rPr>
              <a:t>route accuracy</a:t>
            </a:r>
          </a:p>
        </p:txBody>
      </p:sp>
      <p:sp>
        <p:nvSpPr>
          <p:cNvPr id="15" name="Rectangle 14"/>
          <p:cNvSpPr/>
          <p:nvPr/>
        </p:nvSpPr>
        <p:spPr>
          <a:xfrm>
            <a:off x="6144768" y="1828800"/>
            <a:ext cx="2542032" cy="124358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44768" y="1828800"/>
            <a:ext cx="2542032"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44768" y="2103120"/>
            <a:ext cx="2542032" cy="548640"/>
          </a:xfrm>
          <a:prstGeom prst="rect">
            <a:avLst/>
          </a:prstGeom>
          <a:noFill/>
        </p:spPr>
        <p:txBody>
          <a:bodyPr wrap="square" anchor="t" lIns="0" rIns="0" tIns="0" bIns="0">
            <a:spAutoFit/>
          </a:bodyPr>
          <a:lstStyle/>
          <a:p>
            <a:pPr algn="ctr">
              <a:lnSpc>
                <a:spcPct val="100000"/>
              </a:lnSpc>
              <a:spcAft>
                <a:spcPts val="0"/>
              </a:spcAft>
            </a:pPr>
            <a:r>
              <a:rPr sz="3000" b="1">
                <a:solidFill>
                  <a:srgbClr val="0B1739"/>
                </a:solidFill>
                <a:latin typeface="Arial"/>
              </a:rPr>
              <a:t>100%</a:t>
            </a:r>
          </a:p>
        </p:txBody>
      </p:sp>
      <p:sp>
        <p:nvSpPr>
          <p:cNvPr id="18" name="TextBox 17"/>
          <p:cNvSpPr txBox="1"/>
          <p:nvPr/>
        </p:nvSpPr>
        <p:spPr>
          <a:xfrm>
            <a:off x="6144768" y="2633472"/>
            <a:ext cx="2542032" cy="274320"/>
          </a:xfrm>
          <a:prstGeom prst="rect">
            <a:avLst/>
          </a:prstGeom>
          <a:noFill/>
        </p:spPr>
        <p:txBody>
          <a:bodyPr wrap="square" anchor="t" lIns="0" rIns="0" tIns="0" bIns="0">
            <a:spAutoFit/>
          </a:bodyPr>
          <a:lstStyle/>
          <a:p>
            <a:pPr algn="ctr">
              <a:lnSpc>
                <a:spcPct val="100000"/>
              </a:lnSpc>
              <a:spcAft>
                <a:spcPts val="0"/>
              </a:spcAft>
            </a:pPr>
            <a:r>
              <a:rPr sz="1100" b="0">
                <a:solidFill>
                  <a:srgbClr val="596579"/>
                </a:solidFill>
                <a:latin typeface="Arial"/>
              </a:rPr>
              <a:t>high-risk recall</a:t>
            </a:r>
          </a:p>
        </p:txBody>
      </p:sp>
      <p:sp>
        <p:nvSpPr>
          <p:cNvPr id="19" name="Rectangle 18"/>
          <p:cNvSpPr/>
          <p:nvPr/>
        </p:nvSpPr>
        <p:spPr>
          <a:xfrm>
            <a:off x="8887968" y="1828800"/>
            <a:ext cx="2542032" cy="124358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87968" y="1828800"/>
            <a:ext cx="2542032" cy="45720"/>
          </a:xfrm>
          <a:prstGeom prst="rect">
            <a:avLst/>
          </a:prstGeom>
          <a:solidFill>
            <a:srgbClr val="BD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87968" y="2103120"/>
            <a:ext cx="2542032" cy="548640"/>
          </a:xfrm>
          <a:prstGeom prst="rect">
            <a:avLst/>
          </a:prstGeom>
          <a:noFill/>
        </p:spPr>
        <p:txBody>
          <a:bodyPr wrap="square" anchor="t" lIns="0" rIns="0" tIns="0" bIns="0">
            <a:spAutoFit/>
          </a:bodyPr>
          <a:lstStyle/>
          <a:p>
            <a:pPr algn="ctr">
              <a:lnSpc>
                <a:spcPct val="100000"/>
              </a:lnSpc>
              <a:spcAft>
                <a:spcPts val="0"/>
              </a:spcAft>
            </a:pPr>
            <a:r>
              <a:rPr sz="3000" b="1">
                <a:solidFill>
                  <a:srgbClr val="0B1739"/>
                </a:solidFill>
                <a:latin typeface="Arial"/>
              </a:rPr>
              <a:t>0</a:t>
            </a:r>
          </a:p>
        </p:txBody>
      </p:sp>
      <p:sp>
        <p:nvSpPr>
          <p:cNvPr id="22" name="TextBox 21"/>
          <p:cNvSpPr txBox="1"/>
          <p:nvPr/>
        </p:nvSpPr>
        <p:spPr>
          <a:xfrm>
            <a:off x="8887968" y="2633472"/>
            <a:ext cx="2542032" cy="274320"/>
          </a:xfrm>
          <a:prstGeom prst="rect">
            <a:avLst/>
          </a:prstGeom>
          <a:noFill/>
        </p:spPr>
        <p:txBody>
          <a:bodyPr wrap="square" anchor="t" lIns="0" rIns="0" tIns="0" bIns="0">
            <a:spAutoFit/>
          </a:bodyPr>
          <a:lstStyle/>
          <a:p>
            <a:pPr algn="ctr">
              <a:lnSpc>
                <a:spcPct val="100000"/>
              </a:lnSpc>
              <a:spcAft>
                <a:spcPts val="0"/>
              </a:spcAft>
            </a:pPr>
            <a:r>
              <a:rPr sz="1100" b="0">
                <a:solidFill>
                  <a:srgbClr val="596579"/>
                </a:solidFill>
                <a:latin typeface="Arial"/>
              </a:rPr>
              <a:t>unsafe auto-resolves</a:t>
            </a:r>
          </a:p>
        </p:txBody>
      </p:sp>
      <p:sp>
        <p:nvSpPr>
          <p:cNvPr id="23" name="Rectangle 22"/>
          <p:cNvSpPr/>
          <p:nvPr/>
        </p:nvSpPr>
        <p:spPr>
          <a:xfrm>
            <a:off x="658368" y="3346704"/>
            <a:ext cx="2468880" cy="365760"/>
          </a:xfrm>
          <a:prstGeom prst="rect">
            <a:avLst/>
          </a:prstGeom>
          <a:solidFill>
            <a:srgbClr val="0B173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3424428"/>
            <a:ext cx="2286000" cy="365760"/>
          </a:xfrm>
          <a:prstGeom prst="rect">
            <a:avLst/>
          </a:prstGeom>
          <a:noFill/>
        </p:spPr>
        <p:txBody>
          <a:bodyPr wrap="square" anchor="t" lIns="0" rIns="0" tIns="0" bIns="0">
            <a:spAutoFit/>
          </a:bodyPr>
          <a:lstStyle/>
          <a:p>
            <a:pPr algn="l">
              <a:lnSpc>
                <a:spcPct val="100000"/>
              </a:lnSpc>
              <a:spcAft>
                <a:spcPts val="0"/>
              </a:spcAft>
            </a:pPr>
            <a:r>
              <a:rPr sz="1050" b="1">
                <a:solidFill>
                  <a:srgbClr val="FFFFFF"/>
                </a:solidFill>
                <a:latin typeface="Arial"/>
              </a:rPr>
              <a:t>Run</a:t>
            </a:r>
          </a:p>
        </p:txBody>
      </p:sp>
      <p:sp>
        <p:nvSpPr>
          <p:cNvPr id="25" name="Rectangle 24"/>
          <p:cNvSpPr/>
          <p:nvPr/>
        </p:nvSpPr>
        <p:spPr>
          <a:xfrm>
            <a:off x="3127248" y="3346704"/>
            <a:ext cx="5852160" cy="365760"/>
          </a:xfrm>
          <a:prstGeom prst="rect">
            <a:avLst/>
          </a:prstGeom>
          <a:solidFill>
            <a:srgbClr val="0B173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36976" y="3424428"/>
            <a:ext cx="5669280" cy="365760"/>
          </a:xfrm>
          <a:prstGeom prst="rect">
            <a:avLst/>
          </a:prstGeom>
          <a:noFill/>
        </p:spPr>
        <p:txBody>
          <a:bodyPr wrap="square" anchor="t" lIns="0" rIns="0" tIns="0" bIns="0">
            <a:spAutoFit/>
          </a:bodyPr>
          <a:lstStyle/>
          <a:p>
            <a:pPr algn="l">
              <a:lnSpc>
                <a:spcPct val="100000"/>
              </a:lnSpc>
              <a:spcAft>
                <a:spcPts val="0"/>
              </a:spcAft>
            </a:pPr>
            <a:r>
              <a:rPr sz="1050" b="1">
                <a:solidFill>
                  <a:srgbClr val="FFFFFF"/>
                </a:solidFill>
                <a:latin typeface="Arial"/>
              </a:rPr>
              <a:t>What it measures</a:t>
            </a:r>
          </a:p>
        </p:txBody>
      </p:sp>
      <p:sp>
        <p:nvSpPr>
          <p:cNvPr id="27" name="Rectangle 26"/>
          <p:cNvSpPr/>
          <p:nvPr/>
        </p:nvSpPr>
        <p:spPr>
          <a:xfrm>
            <a:off x="8979408" y="3346704"/>
            <a:ext cx="2560320" cy="365760"/>
          </a:xfrm>
          <a:prstGeom prst="rect">
            <a:avLst/>
          </a:prstGeom>
          <a:solidFill>
            <a:srgbClr val="0B173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9136" y="3424428"/>
            <a:ext cx="2377440" cy="365760"/>
          </a:xfrm>
          <a:prstGeom prst="rect">
            <a:avLst/>
          </a:prstGeom>
          <a:noFill/>
        </p:spPr>
        <p:txBody>
          <a:bodyPr wrap="square" anchor="t" lIns="0" rIns="0" tIns="0" bIns="0">
            <a:spAutoFit/>
          </a:bodyPr>
          <a:lstStyle/>
          <a:p>
            <a:pPr algn="l">
              <a:lnSpc>
                <a:spcPct val="100000"/>
              </a:lnSpc>
              <a:spcAft>
                <a:spcPts val="0"/>
              </a:spcAft>
            </a:pPr>
            <a:r>
              <a:rPr sz="1050" b="1">
                <a:solidFill>
                  <a:srgbClr val="FFFFFF"/>
                </a:solidFill>
                <a:latin typeface="Arial"/>
              </a:rPr>
              <a:t>Result</a:t>
            </a:r>
          </a:p>
        </p:txBody>
      </p:sp>
      <p:sp>
        <p:nvSpPr>
          <p:cNvPr id="29" name="Rectangle 28"/>
          <p:cNvSpPr/>
          <p:nvPr/>
        </p:nvSpPr>
        <p:spPr>
          <a:xfrm>
            <a:off x="658368" y="3712464"/>
            <a:ext cx="2468880" cy="36576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3790188"/>
            <a:ext cx="2286000" cy="365760"/>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Golden evaluation</a:t>
            </a:r>
          </a:p>
        </p:txBody>
      </p:sp>
      <p:sp>
        <p:nvSpPr>
          <p:cNvPr id="31" name="Rectangle 30"/>
          <p:cNvSpPr/>
          <p:nvPr/>
        </p:nvSpPr>
        <p:spPr>
          <a:xfrm>
            <a:off x="3127248" y="3712464"/>
            <a:ext cx="5852160" cy="36576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36976" y="3790188"/>
            <a:ext cx="5669280" cy="365760"/>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15 labelled cases, deterministic fixtures + real MCP/Qdrant</a:t>
            </a:r>
          </a:p>
        </p:txBody>
      </p:sp>
      <p:sp>
        <p:nvSpPr>
          <p:cNvPr id="33" name="Rectangle 32"/>
          <p:cNvSpPr/>
          <p:nvPr/>
        </p:nvSpPr>
        <p:spPr>
          <a:xfrm>
            <a:off x="8979408" y="3712464"/>
            <a:ext cx="2560320" cy="36576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89136" y="3790188"/>
            <a:ext cx="2377440" cy="365760"/>
          </a:xfrm>
          <a:prstGeom prst="rect">
            <a:avLst/>
          </a:prstGeom>
          <a:noFill/>
        </p:spPr>
        <p:txBody>
          <a:bodyPr wrap="square" anchor="t" lIns="0" rIns="0" tIns="0" bIns="0">
            <a:spAutoFit/>
          </a:bodyPr>
          <a:lstStyle/>
          <a:p>
            <a:pPr algn="l">
              <a:lnSpc>
                <a:spcPct val="100000"/>
              </a:lnSpc>
              <a:spcAft>
                <a:spcPts val="0"/>
              </a:spcAft>
            </a:pPr>
            <a:r>
              <a:rPr sz="1050" b="0">
                <a:solidFill>
                  <a:srgbClr val="087443"/>
                </a:solidFill>
                <a:latin typeface="Arial"/>
              </a:rPr>
              <a:t>✓ 15/15 category and route</a:t>
            </a:r>
          </a:p>
        </p:txBody>
      </p:sp>
      <p:sp>
        <p:nvSpPr>
          <p:cNvPr id="35" name="Rectangle 34"/>
          <p:cNvSpPr/>
          <p:nvPr/>
        </p:nvSpPr>
        <p:spPr>
          <a:xfrm>
            <a:off x="658368" y="4078224"/>
            <a:ext cx="2468880" cy="365760"/>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 y="4155948"/>
            <a:ext cx="2286000" cy="365760"/>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Paraphrase retrieval</a:t>
            </a:r>
          </a:p>
        </p:txBody>
      </p:sp>
      <p:sp>
        <p:nvSpPr>
          <p:cNvPr id="37" name="Rectangle 36"/>
          <p:cNvSpPr/>
          <p:nvPr/>
        </p:nvSpPr>
        <p:spPr>
          <a:xfrm>
            <a:off x="3127248" y="4078224"/>
            <a:ext cx="5852160" cy="365760"/>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36976" y="4155948"/>
            <a:ext cx="5669280" cy="365760"/>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9 reworded queries against the starter corpus</a:t>
            </a:r>
          </a:p>
        </p:txBody>
      </p:sp>
      <p:sp>
        <p:nvSpPr>
          <p:cNvPr id="39" name="Rectangle 38"/>
          <p:cNvSpPr/>
          <p:nvPr/>
        </p:nvSpPr>
        <p:spPr>
          <a:xfrm>
            <a:off x="8979408" y="4078224"/>
            <a:ext cx="2560320" cy="365760"/>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89136" y="4155948"/>
            <a:ext cx="2377440" cy="365760"/>
          </a:xfrm>
          <a:prstGeom prst="rect">
            <a:avLst/>
          </a:prstGeom>
          <a:noFill/>
        </p:spPr>
        <p:txBody>
          <a:bodyPr wrap="square" anchor="t" lIns="0" rIns="0" tIns="0" bIns="0">
            <a:spAutoFit/>
          </a:bodyPr>
          <a:lstStyle/>
          <a:p>
            <a:pPr algn="l">
              <a:lnSpc>
                <a:spcPct val="100000"/>
              </a:lnSpc>
              <a:spcAft>
                <a:spcPts val="0"/>
              </a:spcAft>
            </a:pPr>
            <a:r>
              <a:rPr sz="1050" b="0">
                <a:solidFill>
                  <a:srgbClr val="087443"/>
                </a:solidFill>
                <a:latin typeface="Arial"/>
              </a:rPr>
              <a:t>✓ 9/9 top-1</a:t>
            </a:r>
          </a:p>
        </p:txBody>
      </p:sp>
      <p:sp>
        <p:nvSpPr>
          <p:cNvPr id="41" name="Rectangle 40"/>
          <p:cNvSpPr/>
          <p:nvPr/>
        </p:nvSpPr>
        <p:spPr>
          <a:xfrm>
            <a:off x="658368" y="4443984"/>
            <a:ext cx="2468880" cy="36576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4521708"/>
            <a:ext cx="2286000" cy="365760"/>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Live company corpus</a:t>
            </a:r>
          </a:p>
        </p:txBody>
      </p:sp>
      <p:sp>
        <p:nvSpPr>
          <p:cNvPr id="43" name="Rectangle 42"/>
          <p:cNvSpPr/>
          <p:nvPr/>
        </p:nvSpPr>
        <p:spPr>
          <a:xfrm>
            <a:off x="3127248" y="4443984"/>
            <a:ext cx="5852160" cy="36576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36976" y="4521708"/>
            <a:ext cx="5669280" cy="365760"/>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30 uploaded articles, 11 semantic searches, 10 live tickets</a:t>
            </a:r>
          </a:p>
        </p:txBody>
      </p:sp>
      <p:sp>
        <p:nvSpPr>
          <p:cNvPr id="45" name="Rectangle 44"/>
          <p:cNvSpPr/>
          <p:nvPr/>
        </p:nvSpPr>
        <p:spPr>
          <a:xfrm>
            <a:off x="8979408" y="4443984"/>
            <a:ext cx="2560320" cy="36576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89136" y="4521708"/>
            <a:ext cx="2377440" cy="365760"/>
          </a:xfrm>
          <a:prstGeom prst="rect">
            <a:avLst/>
          </a:prstGeom>
          <a:noFill/>
        </p:spPr>
        <p:txBody>
          <a:bodyPr wrap="square" anchor="t" lIns="0" rIns="0" tIns="0" bIns="0">
            <a:spAutoFit/>
          </a:bodyPr>
          <a:lstStyle/>
          <a:p>
            <a:pPr algn="l">
              <a:lnSpc>
                <a:spcPct val="100000"/>
              </a:lnSpc>
              <a:spcAft>
                <a:spcPts val="0"/>
              </a:spcAft>
            </a:pPr>
            <a:r>
              <a:rPr sz="1050" b="0">
                <a:solidFill>
                  <a:srgbClr val="087443"/>
                </a:solidFill>
                <a:latin typeface="Arial"/>
              </a:rPr>
              <a:t>✓ 11/11 and 10/10 traces</a:t>
            </a:r>
          </a:p>
        </p:txBody>
      </p:sp>
      <p:sp>
        <p:nvSpPr>
          <p:cNvPr id="47" name="Rectangle 46"/>
          <p:cNvSpPr/>
          <p:nvPr/>
        </p:nvSpPr>
        <p:spPr>
          <a:xfrm>
            <a:off x="658368" y="4809744"/>
            <a:ext cx="2468880" cy="365760"/>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8096" y="4887468"/>
            <a:ext cx="2286000" cy="365760"/>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Protected demo batch</a:t>
            </a:r>
          </a:p>
        </p:txBody>
      </p:sp>
      <p:sp>
        <p:nvSpPr>
          <p:cNvPr id="49" name="Rectangle 48"/>
          <p:cNvSpPr/>
          <p:nvPr/>
        </p:nvSpPr>
        <p:spPr>
          <a:xfrm>
            <a:off x="3127248" y="4809744"/>
            <a:ext cx="5852160" cy="365760"/>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36976" y="4887468"/>
            <a:ext cx="5669280" cy="365760"/>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The six curated judge tickets, live OpenAI</a:t>
            </a:r>
          </a:p>
        </p:txBody>
      </p:sp>
      <p:sp>
        <p:nvSpPr>
          <p:cNvPr id="51" name="Rectangle 50"/>
          <p:cNvSpPr/>
          <p:nvPr/>
        </p:nvSpPr>
        <p:spPr>
          <a:xfrm>
            <a:off x="8979408" y="4809744"/>
            <a:ext cx="2560320" cy="365760"/>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89136" y="4887468"/>
            <a:ext cx="2377440" cy="365760"/>
          </a:xfrm>
          <a:prstGeom prst="rect">
            <a:avLst/>
          </a:prstGeom>
          <a:noFill/>
        </p:spPr>
        <p:txBody>
          <a:bodyPr wrap="square" anchor="t" lIns="0" rIns="0" tIns="0" bIns="0">
            <a:spAutoFit/>
          </a:bodyPr>
          <a:lstStyle/>
          <a:p>
            <a:pPr algn="l">
              <a:lnSpc>
                <a:spcPct val="100000"/>
              </a:lnSpc>
              <a:spcAft>
                <a:spcPts val="0"/>
              </a:spcAft>
            </a:pPr>
            <a:r>
              <a:rPr sz="1050" b="0">
                <a:solidFill>
                  <a:srgbClr val="087443"/>
                </a:solidFill>
                <a:latin typeface="Arial"/>
              </a:rPr>
              <a:t>✓ 6/6 expected routes</a:t>
            </a:r>
          </a:p>
        </p:txBody>
      </p:sp>
      <p:sp>
        <p:nvSpPr>
          <p:cNvPr id="53" name="Rectangle 52"/>
          <p:cNvSpPr/>
          <p:nvPr/>
        </p:nvSpPr>
        <p:spPr>
          <a:xfrm>
            <a:off x="658368" y="5175504"/>
            <a:ext cx="2468880" cy="36576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8096" y="5253228"/>
            <a:ext cx="2286000" cy="365760"/>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Fresh clone + Docker</a:t>
            </a:r>
          </a:p>
        </p:txBody>
      </p:sp>
      <p:sp>
        <p:nvSpPr>
          <p:cNvPr id="55" name="Rectangle 54"/>
          <p:cNvSpPr/>
          <p:nvPr/>
        </p:nvSpPr>
        <p:spPr>
          <a:xfrm>
            <a:off x="3127248" y="5175504"/>
            <a:ext cx="5852160" cy="36576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236976" y="5253228"/>
            <a:ext cx="5669280" cy="365760"/>
          </a:xfrm>
          <a:prstGeom prst="rect">
            <a:avLst/>
          </a:prstGeom>
          <a:noFill/>
        </p:spPr>
        <p:txBody>
          <a:bodyPr wrap="square" anchor="t" lIns="0" rIns="0" tIns="0" bIns="0">
            <a:spAutoFit/>
          </a:bodyPr>
          <a:lstStyle/>
          <a:p>
            <a:pPr algn="l">
              <a:lnSpc>
                <a:spcPct val="100000"/>
              </a:lnSpc>
              <a:spcAft>
                <a:spcPts val="0"/>
              </a:spcAft>
            </a:pPr>
            <a:r>
              <a:rPr sz="1050" b="0">
                <a:solidFill>
                  <a:srgbClr val="172033"/>
                </a:solidFill>
                <a:latin typeface="Arial"/>
              </a:rPr>
              <a:t>Clone → install → pytest, and the same inside the image</a:t>
            </a:r>
          </a:p>
        </p:txBody>
      </p:sp>
      <p:sp>
        <p:nvSpPr>
          <p:cNvPr id="57" name="Rectangle 56"/>
          <p:cNvSpPr/>
          <p:nvPr/>
        </p:nvSpPr>
        <p:spPr>
          <a:xfrm>
            <a:off x="8979408" y="5175504"/>
            <a:ext cx="2560320" cy="36576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89136" y="5253228"/>
            <a:ext cx="2377440" cy="365760"/>
          </a:xfrm>
          <a:prstGeom prst="rect">
            <a:avLst/>
          </a:prstGeom>
          <a:noFill/>
        </p:spPr>
        <p:txBody>
          <a:bodyPr wrap="square" anchor="t" lIns="0" rIns="0" tIns="0" bIns="0">
            <a:spAutoFit/>
          </a:bodyPr>
          <a:lstStyle/>
          <a:p>
            <a:pPr algn="l">
              <a:lnSpc>
                <a:spcPct val="100000"/>
              </a:lnSpc>
              <a:spcAft>
                <a:spcPts val="0"/>
              </a:spcAft>
            </a:pPr>
            <a:r>
              <a:rPr sz="1050" b="0">
                <a:solidFill>
                  <a:srgbClr val="087443"/>
                </a:solidFill>
                <a:latin typeface="Arial"/>
              </a:rPr>
              <a:t>✓ 43/43 in both</a:t>
            </a:r>
          </a:p>
        </p:txBody>
      </p:sp>
      <p:sp>
        <p:nvSpPr>
          <p:cNvPr id="59" name="TextBox 58"/>
          <p:cNvSpPr txBox="1"/>
          <p:nvPr/>
        </p:nvSpPr>
        <p:spPr>
          <a:xfrm>
            <a:off x="658368" y="5596128"/>
            <a:ext cx="10881360" cy="457200"/>
          </a:xfrm>
          <a:prstGeom prst="rect">
            <a:avLst/>
          </a:prstGeom>
          <a:noFill/>
        </p:spPr>
        <p:txBody>
          <a:bodyPr wrap="square" anchor="t" lIns="0" rIns="0" tIns="0" bIns="0">
            <a:spAutoFit/>
          </a:bodyPr>
          <a:lstStyle/>
          <a:p>
            <a:pPr algn="l">
              <a:lnSpc>
                <a:spcPct val="116000"/>
              </a:lnSpc>
              <a:spcAft>
                <a:spcPts val="0"/>
              </a:spcAft>
            </a:pPr>
            <a:r>
              <a:rPr sz="1100" b="0">
                <a:solidFill>
                  <a:srgbClr val="596579"/>
                </a:solidFill>
                <a:latin typeface="Arial"/>
              </a:rPr>
              <a:t>Fixed metrics come from network-free fixtures so they never drift. The in-app Quality check measures whichever knowledge base is loaded, and is labelled separately.</a:t>
            </a:r>
          </a:p>
        </p:txBody>
      </p:sp>
      <p:sp>
        <p:nvSpPr>
          <p:cNvPr id="60" name="TextBox 59"/>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61" name="TextBox 60"/>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CRITERIA · 1 OF 2</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The four things the brief said must be proven visibly</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10881360" cy="98755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55648"/>
            <a:ext cx="45720" cy="987552"/>
          </a:xfrm>
          <a:prstGeom prst="rect">
            <a:avLst/>
          </a:prstGeom>
          <a:solidFill>
            <a:srgbClr val="087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029968"/>
            <a:ext cx="365760" cy="365760"/>
          </a:xfrm>
          <a:prstGeom prst="rect">
            <a:avLst/>
          </a:prstGeom>
          <a:noFill/>
        </p:spPr>
        <p:txBody>
          <a:bodyPr wrap="square" anchor="t" lIns="0" rIns="0" tIns="0" bIns="0">
            <a:spAutoFit/>
          </a:bodyPr>
          <a:lstStyle/>
          <a:p>
            <a:pPr algn="l">
              <a:lnSpc>
                <a:spcPct val="100000"/>
              </a:lnSpc>
              <a:spcAft>
                <a:spcPts val="0"/>
              </a:spcAft>
            </a:pPr>
            <a:r>
              <a:rPr sz="1700" b="1">
                <a:solidFill>
                  <a:srgbClr val="4F46E5"/>
                </a:solidFill>
                <a:latin typeface="Arial"/>
              </a:rPr>
              <a:t>1</a:t>
            </a:r>
          </a:p>
        </p:txBody>
      </p:sp>
      <p:sp>
        <p:nvSpPr>
          <p:cNvPr id="10" name="TextBox 9"/>
          <p:cNvSpPr txBox="1"/>
          <p:nvPr/>
        </p:nvSpPr>
        <p:spPr>
          <a:xfrm>
            <a:off x="1316736" y="1920240"/>
            <a:ext cx="9966960" cy="310896"/>
          </a:xfrm>
          <a:prstGeom prst="rect">
            <a:avLst/>
          </a:prstGeom>
          <a:noFill/>
        </p:spPr>
        <p:txBody>
          <a:bodyPr wrap="square" anchor="t" lIns="0" rIns="0" tIns="0" bIns="0">
            <a:spAutoFit/>
          </a:bodyPr>
          <a:lstStyle/>
          <a:p>
            <a:pPr algn="l">
              <a:lnSpc>
                <a:spcPct val="100000"/>
              </a:lnSpc>
              <a:spcAft>
                <a:spcPts val="0"/>
              </a:spcAft>
            </a:pPr>
            <a:r>
              <a:rPr sz="1250" b="1">
                <a:solidFill>
                  <a:srgbClr val="0B1739"/>
                </a:solidFill>
                <a:latin typeface="Arial"/>
              </a:rPr>
              <a:t>A ticket is classified into billing, technical, or account with urgency and confidence</a:t>
            </a:r>
          </a:p>
        </p:txBody>
      </p:sp>
      <p:sp>
        <p:nvSpPr>
          <p:cNvPr id="11" name="TextBox 10"/>
          <p:cNvSpPr txBox="1"/>
          <p:nvPr/>
        </p:nvSpPr>
        <p:spPr>
          <a:xfrm>
            <a:off x="1316736" y="2267712"/>
            <a:ext cx="9966960" cy="475488"/>
          </a:xfrm>
          <a:prstGeom prst="rect">
            <a:avLst/>
          </a:prstGeom>
          <a:noFill/>
        </p:spPr>
        <p:txBody>
          <a:bodyPr wrap="square" anchor="t" lIns="0" rIns="0" tIns="0" bIns="0">
            <a:spAutoFit/>
          </a:bodyPr>
          <a:lstStyle/>
          <a:p>
            <a:pPr algn="l">
              <a:lnSpc>
                <a:spcPct val="114000"/>
              </a:lnSpc>
              <a:spcAft>
                <a:spcPts val="0"/>
              </a:spcAft>
            </a:pPr>
            <a:r>
              <a:rPr sz="1100" b="0">
                <a:solidFill>
                  <a:srgbClr val="596579"/>
                </a:solidFill>
                <a:latin typeface="Arial"/>
              </a:rPr>
              <a:t>Typed Classification model, schema-validated, with one bounded repair attempt. Category, urgency, and confidence appear on every ticket card.</a:t>
            </a:r>
          </a:p>
        </p:txBody>
      </p:sp>
      <p:sp>
        <p:nvSpPr>
          <p:cNvPr id="12" name="TextBox 11"/>
          <p:cNvSpPr txBox="1"/>
          <p:nvPr/>
        </p:nvSpPr>
        <p:spPr>
          <a:xfrm>
            <a:off x="10927080" y="2066544"/>
            <a:ext cx="548640" cy="365760"/>
          </a:xfrm>
          <a:prstGeom prst="rect">
            <a:avLst/>
          </a:prstGeom>
          <a:noFill/>
        </p:spPr>
        <p:txBody>
          <a:bodyPr wrap="square" anchor="t" lIns="0" rIns="0" tIns="0" bIns="0">
            <a:spAutoFit/>
          </a:bodyPr>
          <a:lstStyle/>
          <a:p>
            <a:pPr algn="l">
              <a:lnSpc>
                <a:spcPct val="100000"/>
              </a:lnSpc>
              <a:spcAft>
                <a:spcPts val="0"/>
              </a:spcAft>
            </a:pPr>
            <a:r>
              <a:rPr sz="1900" b="1">
                <a:solidFill>
                  <a:srgbClr val="087443"/>
                </a:solidFill>
                <a:latin typeface="Arial"/>
              </a:rPr>
              <a:t>✓</a:t>
            </a:r>
          </a:p>
        </p:txBody>
      </p:sp>
      <p:sp>
        <p:nvSpPr>
          <p:cNvPr id="13" name="Rectangle 12"/>
          <p:cNvSpPr/>
          <p:nvPr/>
        </p:nvSpPr>
        <p:spPr>
          <a:xfrm>
            <a:off x="658368" y="2834640"/>
            <a:ext cx="10881360" cy="98755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2834640"/>
            <a:ext cx="45720" cy="987552"/>
          </a:xfrm>
          <a:prstGeom prst="rect">
            <a:avLst/>
          </a:prstGeom>
          <a:solidFill>
            <a:srgbClr val="087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108960"/>
            <a:ext cx="365760" cy="365760"/>
          </a:xfrm>
          <a:prstGeom prst="rect">
            <a:avLst/>
          </a:prstGeom>
          <a:noFill/>
        </p:spPr>
        <p:txBody>
          <a:bodyPr wrap="square" anchor="t" lIns="0" rIns="0" tIns="0" bIns="0">
            <a:spAutoFit/>
          </a:bodyPr>
          <a:lstStyle/>
          <a:p>
            <a:pPr algn="l">
              <a:lnSpc>
                <a:spcPct val="100000"/>
              </a:lnSpc>
              <a:spcAft>
                <a:spcPts val="0"/>
              </a:spcAft>
            </a:pPr>
            <a:r>
              <a:rPr sz="1700" b="1">
                <a:solidFill>
                  <a:srgbClr val="4F46E5"/>
                </a:solidFill>
                <a:latin typeface="Arial"/>
              </a:rPr>
              <a:t>2</a:t>
            </a:r>
          </a:p>
        </p:txBody>
      </p:sp>
      <p:sp>
        <p:nvSpPr>
          <p:cNvPr id="16" name="TextBox 15"/>
          <p:cNvSpPr txBox="1"/>
          <p:nvPr/>
        </p:nvSpPr>
        <p:spPr>
          <a:xfrm>
            <a:off x="1316736" y="2999232"/>
            <a:ext cx="9966960" cy="310896"/>
          </a:xfrm>
          <a:prstGeom prst="rect">
            <a:avLst/>
          </a:prstGeom>
          <a:noFill/>
        </p:spPr>
        <p:txBody>
          <a:bodyPr wrap="square" anchor="t" lIns="0" rIns="0" tIns="0" bIns="0">
            <a:spAutoFit/>
          </a:bodyPr>
          <a:lstStyle/>
          <a:p>
            <a:pPr algn="l">
              <a:lnSpc>
                <a:spcPct val="100000"/>
              </a:lnSpc>
              <a:spcAft>
                <a:spcPts val="0"/>
              </a:spcAft>
            </a:pPr>
            <a:r>
              <a:rPr sz="1250" b="1">
                <a:solidFill>
                  <a:srgbClr val="0B1739"/>
                </a:solidFill>
                <a:latin typeface="Arial"/>
              </a:rPr>
              <a:t>The workflow is a real state graph: Perceive → Assess Risk → Search KB → Decide → Act → Observe</a:t>
            </a:r>
          </a:p>
        </p:txBody>
      </p:sp>
      <p:sp>
        <p:nvSpPr>
          <p:cNvPr id="17" name="TextBox 16"/>
          <p:cNvSpPr txBox="1"/>
          <p:nvPr/>
        </p:nvSpPr>
        <p:spPr>
          <a:xfrm>
            <a:off x="1316736" y="3346704"/>
            <a:ext cx="9966960" cy="475488"/>
          </a:xfrm>
          <a:prstGeom prst="rect">
            <a:avLst/>
          </a:prstGeom>
          <a:noFill/>
        </p:spPr>
        <p:txBody>
          <a:bodyPr wrap="square" anchor="t" lIns="0" rIns="0" tIns="0" bIns="0">
            <a:spAutoFit/>
          </a:bodyPr>
          <a:lstStyle/>
          <a:p>
            <a:pPr algn="l">
              <a:lnSpc>
                <a:spcPct val="114000"/>
              </a:lnSpc>
              <a:spcAft>
                <a:spcPts val="0"/>
              </a:spcAft>
            </a:pPr>
            <a:r>
              <a:rPr sz="1100" b="0">
                <a:solidFill>
                  <a:srgbClr val="596579"/>
                </a:solidFill>
                <a:latin typeface="Arial"/>
              </a:rPr>
              <a:t>LangGraph with ten named nodes and conditional edges. Each emits a typed TraceEvent with a measured duration.</a:t>
            </a:r>
          </a:p>
        </p:txBody>
      </p:sp>
      <p:sp>
        <p:nvSpPr>
          <p:cNvPr id="18" name="TextBox 17"/>
          <p:cNvSpPr txBox="1"/>
          <p:nvPr/>
        </p:nvSpPr>
        <p:spPr>
          <a:xfrm>
            <a:off x="10927080" y="3145536"/>
            <a:ext cx="548640" cy="365760"/>
          </a:xfrm>
          <a:prstGeom prst="rect">
            <a:avLst/>
          </a:prstGeom>
          <a:noFill/>
        </p:spPr>
        <p:txBody>
          <a:bodyPr wrap="square" anchor="t" lIns="0" rIns="0" tIns="0" bIns="0">
            <a:spAutoFit/>
          </a:bodyPr>
          <a:lstStyle/>
          <a:p>
            <a:pPr algn="l">
              <a:lnSpc>
                <a:spcPct val="100000"/>
              </a:lnSpc>
              <a:spcAft>
                <a:spcPts val="0"/>
              </a:spcAft>
            </a:pPr>
            <a:r>
              <a:rPr sz="1900" b="1">
                <a:solidFill>
                  <a:srgbClr val="087443"/>
                </a:solidFill>
                <a:latin typeface="Arial"/>
              </a:rPr>
              <a:t>✓</a:t>
            </a:r>
          </a:p>
        </p:txBody>
      </p:sp>
      <p:sp>
        <p:nvSpPr>
          <p:cNvPr id="19" name="Rectangle 18"/>
          <p:cNvSpPr/>
          <p:nvPr/>
        </p:nvSpPr>
        <p:spPr>
          <a:xfrm>
            <a:off x="658368" y="3913632"/>
            <a:ext cx="10881360" cy="98755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3913632"/>
            <a:ext cx="45720" cy="987552"/>
          </a:xfrm>
          <a:prstGeom prst="rect">
            <a:avLst/>
          </a:prstGeom>
          <a:solidFill>
            <a:srgbClr val="087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187952"/>
            <a:ext cx="365760" cy="365760"/>
          </a:xfrm>
          <a:prstGeom prst="rect">
            <a:avLst/>
          </a:prstGeom>
          <a:noFill/>
        </p:spPr>
        <p:txBody>
          <a:bodyPr wrap="square" anchor="t" lIns="0" rIns="0" tIns="0" bIns="0">
            <a:spAutoFit/>
          </a:bodyPr>
          <a:lstStyle/>
          <a:p>
            <a:pPr algn="l">
              <a:lnSpc>
                <a:spcPct val="100000"/>
              </a:lnSpc>
              <a:spcAft>
                <a:spcPts val="0"/>
              </a:spcAft>
            </a:pPr>
            <a:r>
              <a:rPr sz="1700" b="1">
                <a:solidFill>
                  <a:srgbClr val="4F46E5"/>
                </a:solidFill>
                <a:latin typeface="Arial"/>
              </a:rPr>
              <a:t>3</a:t>
            </a:r>
          </a:p>
        </p:txBody>
      </p:sp>
      <p:sp>
        <p:nvSpPr>
          <p:cNvPr id="22" name="TextBox 21"/>
          <p:cNvSpPr txBox="1"/>
          <p:nvPr/>
        </p:nvSpPr>
        <p:spPr>
          <a:xfrm>
            <a:off x="1316736" y="4078224"/>
            <a:ext cx="9966960" cy="310896"/>
          </a:xfrm>
          <a:prstGeom prst="rect">
            <a:avLst/>
          </a:prstGeom>
          <a:noFill/>
        </p:spPr>
        <p:txBody>
          <a:bodyPr wrap="square" anchor="t" lIns="0" rIns="0" tIns="0" bIns="0">
            <a:spAutoFit/>
          </a:bodyPr>
          <a:lstStyle/>
          <a:p>
            <a:pPr algn="l">
              <a:lnSpc>
                <a:spcPct val="100000"/>
              </a:lnSpc>
              <a:spcAft>
                <a:spcPts val="0"/>
              </a:spcAft>
            </a:pPr>
            <a:r>
              <a:rPr sz="1250" b="1">
                <a:solidFill>
                  <a:srgbClr val="0B1739"/>
                </a:solidFill>
                <a:latin typeface="Arial"/>
              </a:rPr>
              <a:t>The KB lookup crosses a real MCP boundary, with request and response in the trace</a:t>
            </a:r>
          </a:p>
        </p:txBody>
      </p:sp>
      <p:sp>
        <p:nvSpPr>
          <p:cNvPr id="23" name="TextBox 22"/>
          <p:cNvSpPr txBox="1"/>
          <p:nvPr/>
        </p:nvSpPr>
        <p:spPr>
          <a:xfrm>
            <a:off x="1316736" y="4425696"/>
            <a:ext cx="9966960" cy="475488"/>
          </a:xfrm>
          <a:prstGeom prst="rect">
            <a:avLst/>
          </a:prstGeom>
          <a:noFill/>
        </p:spPr>
        <p:txBody>
          <a:bodyPr wrap="square" anchor="t" lIns="0" rIns="0" tIns="0" bIns="0">
            <a:spAutoFit/>
          </a:bodyPr>
          <a:lstStyle/>
          <a:p>
            <a:pPr algn="l">
              <a:lnSpc>
                <a:spcPct val="114000"/>
              </a:lnSpc>
              <a:spcAft>
                <a:spcPts val="0"/>
              </a:spcAft>
            </a:pPr>
            <a:r>
              <a:rPr sz="1100" b="0">
                <a:solidFill>
                  <a:srgbClr val="596579"/>
                </a:solidFill>
                <a:latin typeface="Arial"/>
              </a:rPr>
              <a:t>FastMCP server launched as a separate process over stdio. The trace shows tool name, transport, request, matches, scores, and latency.</a:t>
            </a:r>
          </a:p>
        </p:txBody>
      </p:sp>
      <p:sp>
        <p:nvSpPr>
          <p:cNvPr id="24" name="TextBox 23"/>
          <p:cNvSpPr txBox="1"/>
          <p:nvPr/>
        </p:nvSpPr>
        <p:spPr>
          <a:xfrm>
            <a:off x="10927080" y="4224528"/>
            <a:ext cx="548640" cy="365760"/>
          </a:xfrm>
          <a:prstGeom prst="rect">
            <a:avLst/>
          </a:prstGeom>
          <a:noFill/>
        </p:spPr>
        <p:txBody>
          <a:bodyPr wrap="square" anchor="t" lIns="0" rIns="0" tIns="0" bIns="0">
            <a:spAutoFit/>
          </a:bodyPr>
          <a:lstStyle/>
          <a:p>
            <a:pPr algn="l">
              <a:lnSpc>
                <a:spcPct val="100000"/>
              </a:lnSpc>
              <a:spcAft>
                <a:spcPts val="0"/>
              </a:spcAft>
            </a:pPr>
            <a:r>
              <a:rPr sz="1900" b="1">
                <a:solidFill>
                  <a:srgbClr val="087443"/>
                </a:solidFill>
                <a:latin typeface="Arial"/>
              </a:rPr>
              <a:t>✓</a:t>
            </a:r>
          </a:p>
        </p:txBody>
      </p:sp>
      <p:sp>
        <p:nvSpPr>
          <p:cNvPr id="25" name="Rectangle 24"/>
          <p:cNvSpPr/>
          <p:nvPr/>
        </p:nvSpPr>
        <p:spPr>
          <a:xfrm>
            <a:off x="658368" y="4992624"/>
            <a:ext cx="10881360" cy="98755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4992624"/>
            <a:ext cx="45720" cy="987552"/>
          </a:xfrm>
          <a:prstGeom prst="rect">
            <a:avLst/>
          </a:prstGeom>
          <a:solidFill>
            <a:srgbClr val="087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266944"/>
            <a:ext cx="365760" cy="365760"/>
          </a:xfrm>
          <a:prstGeom prst="rect">
            <a:avLst/>
          </a:prstGeom>
          <a:noFill/>
        </p:spPr>
        <p:txBody>
          <a:bodyPr wrap="square" anchor="t" lIns="0" rIns="0" tIns="0" bIns="0">
            <a:spAutoFit/>
          </a:bodyPr>
          <a:lstStyle/>
          <a:p>
            <a:pPr algn="l">
              <a:lnSpc>
                <a:spcPct val="100000"/>
              </a:lnSpc>
              <a:spcAft>
                <a:spcPts val="0"/>
              </a:spcAft>
            </a:pPr>
            <a:r>
              <a:rPr sz="1700" b="1">
                <a:solidFill>
                  <a:srgbClr val="4F46E5"/>
                </a:solidFill>
                <a:latin typeface="Arial"/>
              </a:rPr>
              <a:t>4</a:t>
            </a:r>
          </a:p>
        </p:txBody>
      </p:sp>
      <p:sp>
        <p:nvSpPr>
          <p:cNvPr id="28" name="TextBox 27"/>
          <p:cNvSpPr txBox="1"/>
          <p:nvPr/>
        </p:nvSpPr>
        <p:spPr>
          <a:xfrm>
            <a:off x="1316736" y="5157216"/>
            <a:ext cx="9966960" cy="310896"/>
          </a:xfrm>
          <a:prstGeom prst="rect">
            <a:avLst/>
          </a:prstGeom>
          <a:noFill/>
        </p:spPr>
        <p:txBody>
          <a:bodyPr wrap="square" anchor="t" lIns="0" rIns="0" tIns="0" bIns="0">
            <a:spAutoFit/>
          </a:bodyPr>
          <a:lstStyle/>
          <a:p>
            <a:pPr algn="l">
              <a:lnSpc>
                <a:spcPct val="100000"/>
              </a:lnSpc>
              <a:spcAft>
                <a:spcPts val="0"/>
              </a:spcAft>
            </a:pPr>
            <a:r>
              <a:rPr sz="1250" b="1">
                <a:solidFill>
                  <a:srgbClr val="0B1739"/>
                </a:solidFill>
                <a:latin typeface="Arial"/>
              </a:rPr>
              <a:t>Auto-resolves strong matches, clarifies when information is missing, escalates risky cases</a:t>
            </a:r>
          </a:p>
        </p:txBody>
      </p:sp>
      <p:sp>
        <p:nvSpPr>
          <p:cNvPr id="29" name="TextBox 28"/>
          <p:cNvSpPr txBox="1"/>
          <p:nvPr/>
        </p:nvSpPr>
        <p:spPr>
          <a:xfrm>
            <a:off x="1316736" y="5504688"/>
            <a:ext cx="9966960" cy="475488"/>
          </a:xfrm>
          <a:prstGeom prst="rect">
            <a:avLst/>
          </a:prstGeom>
          <a:noFill/>
        </p:spPr>
        <p:txBody>
          <a:bodyPr wrap="square" anchor="t" lIns="0" rIns="0" tIns="0" bIns="0">
            <a:spAutoFit/>
          </a:bodyPr>
          <a:lstStyle/>
          <a:p>
            <a:pPr algn="l">
              <a:lnSpc>
                <a:spcPct val="114000"/>
              </a:lnSpc>
              <a:spcAft>
                <a:spcPts val="0"/>
              </a:spcAft>
            </a:pPr>
            <a:r>
              <a:rPr sz="1100" b="0">
                <a:solidFill>
                  <a:srgbClr val="596579"/>
                </a:solidFill>
                <a:latin typeface="Arial"/>
              </a:rPr>
              <a:t>Demonstrated live by the six curated tickets: 2 grounded drafts, 1 clarification, 3 safe escalations — 6/6 expected routes.</a:t>
            </a:r>
          </a:p>
        </p:txBody>
      </p:sp>
      <p:sp>
        <p:nvSpPr>
          <p:cNvPr id="30" name="TextBox 29"/>
          <p:cNvSpPr txBox="1"/>
          <p:nvPr/>
        </p:nvSpPr>
        <p:spPr>
          <a:xfrm>
            <a:off x="10927080" y="5303520"/>
            <a:ext cx="548640" cy="365760"/>
          </a:xfrm>
          <a:prstGeom prst="rect">
            <a:avLst/>
          </a:prstGeom>
          <a:noFill/>
        </p:spPr>
        <p:txBody>
          <a:bodyPr wrap="square" anchor="t" lIns="0" rIns="0" tIns="0" bIns="0">
            <a:spAutoFit/>
          </a:bodyPr>
          <a:lstStyle/>
          <a:p>
            <a:pPr algn="l">
              <a:lnSpc>
                <a:spcPct val="100000"/>
              </a:lnSpc>
              <a:spcAft>
                <a:spcPts val="0"/>
              </a:spcAft>
            </a:pPr>
            <a:r>
              <a:rPr sz="1900" b="1">
                <a:solidFill>
                  <a:srgbClr val="087443"/>
                </a:solidFill>
                <a:latin typeface="Arial"/>
              </a:rPr>
              <a:t>✓</a:t>
            </a:r>
          </a:p>
        </p:txBody>
      </p:sp>
      <p:sp>
        <p:nvSpPr>
          <p:cNvPr id="31" name="TextBox 30"/>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32" name="TextBox 31"/>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CRITERIA · 2 OF 2</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Every reinforcing feature the brief listed</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92224"/>
            <a:ext cx="8229600" cy="306324"/>
          </a:xfrm>
          <a:prstGeom prst="rect">
            <a:avLst/>
          </a:prstGeom>
          <a:solidFill>
            <a:srgbClr val="0B173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869948"/>
            <a:ext cx="8046720" cy="306324"/>
          </a:xfrm>
          <a:prstGeom prst="rect">
            <a:avLst/>
          </a:prstGeom>
          <a:noFill/>
        </p:spPr>
        <p:txBody>
          <a:bodyPr wrap="square" anchor="t" lIns="0" rIns="0" tIns="0" bIns="0">
            <a:spAutoFit/>
          </a:bodyPr>
          <a:lstStyle/>
          <a:p>
            <a:pPr algn="l">
              <a:lnSpc>
                <a:spcPct val="100000"/>
              </a:lnSpc>
              <a:spcAft>
                <a:spcPts val="0"/>
              </a:spcAft>
            </a:pPr>
            <a:r>
              <a:rPr sz="1100" b="1">
                <a:solidFill>
                  <a:srgbClr val="FFFFFF"/>
                </a:solidFill>
                <a:latin typeface="Arial"/>
              </a:rPr>
              <a:t>Asked for in the brief</a:t>
            </a:r>
          </a:p>
        </p:txBody>
      </p:sp>
      <p:sp>
        <p:nvSpPr>
          <p:cNvPr id="9" name="Rectangle 8"/>
          <p:cNvSpPr/>
          <p:nvPr/>
        </p:nvSpPr>
        <p:spPr>
          <a:xfrm>
            <a:off x="8887968" y="1792224"/>
            <a:ext cx="2651760" cy="306324"/>
          </a:xfrm>
          <a:prstGeom prst="rect">
            <a:avLst/>
          </a:prstGeom>
          <a:solidFill>
            <a:srgbClr val="0B173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97696" y="1869948"/>
            <a:ext cx="2468880" cy="306324"/>
          </a:xfrm>
          <a:prstGeom prst="rect">
            <a:avLst/>
          </a:prstGeom>
          <a:noFill/>
        </p:spPr>
        <p:txBody>
          <a:bodyPr wrap="square" anchor="t" lIns="0" rIns="0" tIns="0" bIns="0">
            <a:spAutoFit/>
          </a:bodyPr>
          <a:lstStyle/>
          <a:p>
            <a:pPr algn="l">
              <a:lnSpc>
                <a:spcPct val="100000"/>
              </a:lnSpc>
              <a:spcAft>
                <a:spcPts val="0"/>
              </a:spcAft>
            </a:pPr>
            <a:r>
              <a:rPr sz="1100" b="1">
                <a:solidFill>
                  <a:srgbClr val="FFFFFF"/>
                </a:solidFill>
                <a:latin typeface="Arial"/>
              </a:rPr>
              <a:t>Status</a:t>
            </a:r>
          </a:p>
        </p:txBody>
      </p:sp>
      <p:sp>
        <p:nvSpPr>
          <p:cNvPr id="11" name="Rectangle 10"/>
          <p:cNvSpPr/>
          <p:nvPr/>
        </p:nvSpPr>
        <p:spPr>
          <a:xfrm>
            <a:off x="658368" y="2098548"/>
            <a:ext cx="8229600" cy="30632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176272"/>
            <a:ext cx="8046720" cy="306324"/>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Three-way route: auto-resolve / clarify / human review</a:t>
            </a:r>
          </a:p>
        </p:txBody>
      </p:sp>
      <p:sp>
        <p:nvSpPr>
          <p:cNvPr id="13" name="Rectangle 12"/>
          <p:cNvSpPr/>
          <p:nvPr/>
        </p:nvSpPr>
        <p:spPr>
          <a:xfrm>
            <a:off x="8887968" y="2098548"/>
            <a:ext cx="2651760" cy="30632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97696" y="2176272"/>
            <a:ext cx="2468880" cy="306324"/>
          </a:xfrm>
          <a:prstGeom prst="rect">
            <a:avLst/>
          </a:prstGeom>
          <a:noFill/>
        </p:spPr>
        <p:txBody>
          <a:bodyPr wrap="square" anchor="t" lIns="0" rIns="0" tIns="0" bIns="0">
            <a:spAutoFit/>
          </a:bodyPr>
          <a:lstStyle/>
          <a:p>
            <a:pPr algn="l">
              <a:lnSpc>
                <a:spcPct val="100000"/>
              </a:lnSpc>
              <a:spcAft>
                <a:spcPts val="0"/>
              </a:spcAft>
            </a:pPr>
            <a:r>
              <a:rPr sz="1100" b="0">
                <a:solidFill>
                  <a:srgbClr val="087443"/>
                </a:solidFill>
                <a:latin typeface="Arial"/>
              </a:rPr>
              <a:t>✓ Shipped</a:t>
            </a:r>
          </a:p>
        </p:txBody>
      </p:sp>
      <p:sp>
        <p:nvSpPr>
          <p:cNvPr id="15" name="Rectangle 14"/>
          <p:cNvSpPr/>
          <p:nvPr/>
        </p:nvSpPr>
        <p:spPr>
          <a:xfrm>
            <a:off x="658368" y="2404872"/>
            <a:ext cx="8229600" cy="306324"/>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2482596"/>
            <a:ext cx="8046720" cy="306324"/>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Safety rules override the LLM; risky cases never auto-resolve</a:t>
            </a:r>
          </a:p>
        </p:txBody>
      </p:sp>
      <p:sp>
        <p:nvSpPr>
          <p:cNvPr id="17" name="Rectangle 16"/>
          <p:cNvSpPr/>
          <p:nvPr/>
        </p:nvSpPr>
        <p:spPr>
          <a:xfrm>
            <a:off x="8887968" y="2404872"/>
            <a:ext cx="2651760" cy="306324"/>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97696" y="2482596"/>
            <a:ext cx="2468880" cy="306324"/>
          </a:xfrm>
          <a:prstGeom prst="rect">
            <a:avLst/>
          </a:prstGeom>
          <a:noFill/>
        </p:spPr>
        <p:txBody>
          <a:bodyPr wrap="square" anchor="t" lIns="0" rIns="0" tIns="0" bIns="0">
            <a:spAutoFit/>
          </a:bodyPr>
          <a:lstStyle/>
          <a:p>
            <a:pPr algn="l">
              <a:lnSpc>
                <a:spcPct val="100000"/>
              </a:lnSpc>
              <a:spcAft>
                <a:spcPts val="0"/>
              </a:spcAft>
            </a:pPr>
            <a:r>
              <a:rPr sz="1100" b="0">
                <a:solidFill>
                  <a:srgbClr val="087443"/>
                </a:solidFill>
                <a:latin typeface="Arial"/>
              </a:rPr>
              <a:t>✓ 13 rule codes</a:t>
            </a:r>
          </a:p>
        </p:txBody>
      </p:sp>
      <p:sp>
        <p:nvSpPr>
          <p:cNvPr id="19" name="Rectangle 18"/>
          <p:cNvSpPr/>
          <p:nvPr/>
        </p:nvSpPr>
        <p:spPr>
          <a:xfrm>
            <a:off x="658368" y="2711196"/>
            <a:ext cx="8229600" cy="30632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788920"/>
            <a:ext cx="8046720" cy="306324"/>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Human override control with an audit entry</a:t>
            </a:r>
          </a:p>
        </p:txBody>
      </p:sp>
      <p:sp>
        <p:nvSpPr>
          <p:cNvPr id="21" name="Rectangle 20"/>
          <p:cNvSpPr/>
          <p:nvPr/>
        </p:nvSpPr>
        <p:spPr>
          <a:xfrm>
            <a:off x="8887968" y="2711196"/>
            <a:ext cx="2651760" cy="30632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97696" y="2788920"/>
            <a:ext cx="2468880" cy="306324"/>
          </a:xfrm>
          <a:prstGeom prst="rect">
            <a:avLst/>
          </a:prstGeom>
          <a:noFill/>
        </p:spPr>
        <p:txBody>
          <a:bodyPr wrap="square" anchor="t" lIns="0" rIns="0" tIns="0" bIns="0">
            <a:spAutoFit/>
          </a:bodyPr>
          <a:lstStyle/>
          <a:p>
            <a:pPr algn="l">
              <a:lnSpc>
                <a:spcPct val="100000"/>
              </a:lnSpc>
              <a:spcAft>
                <a:spcPts val="0"/>
              </a:spcAft>
            </a:pPr>
            <a:r>
              <a:rPr sz="1100" b="0">
                <a:solidFill>
                  <a:srgbClr val="087443"/>
                </a:solidFill>
                <a:latin typeface="Arial"/>
              </a:rPr>
              <a:t>✓ Shipped</a:t>
            </a:r>
          </a:p>
        </p:txBody>
      </p:sp>
      <p:sp>
        <p:nvSpPr>
          <p:cNvPr id="23" name="Rectangle 22"/>
          <p:cNvSpPr/>
          <p:nvPr/>
        </p:nvSpPr>
        <p:spPr>
          <a:xfrm>
            <a:off x="658368" y="3017520"/>
            <a:ext cx="8229600" cy="306324"/>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3095244"/>
            <a:ext cx="8046720" cy="306324"/>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Response target and recommended queue by urgency</a:t>
            </a:r>
          </a:p>
        </p:txBody>
      </p:sp>
      <p:sp>
        <p:nvSpPr>
          <p:cNvPr id="25" name="Rectangle 24"/>
          <p:cNvSpPr/>
          <p:nvPr/>
        </p:nvSpPr>
        <p:spPr>
          <a:xfrm>
            <a:off x="8887968" y="3017520"/>
            <a:ext cx="2651760" cy="306324"/>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7696" y="3095244"/>
            <a:ext cx="2468880" cy="306324"/>
          </a:xfrm>
          <a:prstGeom prst="rect">
            <a:avLst/>
          </a:prstGeom>
          <a:noFill/>
        </p:spPr>
        <p:txBody>
          <a:bodyPr wrap="square" anchor="t" lIns="0" rIns="0" tIns="0" bIns="0">
            <a:spAutoFit/>
          </a:bodyPr>
          <a:lstStyle/>
          <a:p>
            <a:pPr algn="l">
              <a:lnSpc>
                <a:spcPct val="100000"/>
              </a:lnSpc>
              <a:spcAft>
                <a:spcPts val="0"/>
              </a:spcAft>
            </a:pPr>
            <a:r>
              <a:rPr sz="1100" b="0">
                <a:solidFill>
                  <a:srgbClr val="087443"/>
                </a:solidFill>
                <a:latin typeface="Arial"/>
              </a:rPr>
              <a:t>✓ Shipped</a:t>
            </a:r>
          </a:p>
        </p:txBody>
      </p:sp>
      <p:sp>
        <p:nvSpPr>
          <p:cNvPr id="27" name="Rectangle 26"/>
          <p:cNvSpPr/>
          <p:nvPr/>
        </p:nvSpPr>
        <p:spPr>
          <a:xfrm>
            <a:off x="658368" y="3323844"/>
            <a:ext cx="8229600" cy="30632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3401568"/>
            <a:ext cx="8046720" cy="306324"/>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Visible confidence: classification, article score, decision evidence</a:t>
            </a:r>
          </a:p>
        </p:txBody>
      </p:sp>
      <p:sp>
        <p:nvSpPr>
          <p:cNvPr id="29" name="Rectangle 28"/>
          <p:cNvSpPr/>
          <p:nvPr/>
        </p:nvSpPr>
        <p:spPr>
          <a:xfrm>
            <a:off x="8887968" y="3323844"/>
            <a:ext cx="2651760" cy="30632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97696" y="3401568"/>
            <a:ext cx="2468880" cy="306324"/>
          </a:xfrm>
          <a:prstGeom prst="rect">
            <a:avLst/>
          </a:prstGeom>
          <a:noFill/>
        </p:spPr>
        <p:txBody>
          <a:bodyPr wrap="square" anchor="t" lIns="0" rIns="0" tIns="0" bIns="0">
            <a:spAutoFit/>
          </a:bodyPr>
          <a:lstStyle/>
          <a:p>
            <a:pPr algn="l">
              <a:lnSpc>
                <a:spcPct val="100000"/>
              </a:lnSpc>
              <a:spcAft>
                <a:spcPts val="0"/>
              </a:spcAft>
            </a:pPr>
            <a:r>
              <a:rPr sz="1100" b="0">
                <a:solidFill>
                  <a:srgbClr val="087443"/>
                </a:solidFill>
                <a:latin typeface="Arial"/>
              </a:rPr>
              <a:t>✓ Shipped</a:t>
            </a:r>
          </a:p>
        </p:txBody>
      </p:sp>
      <p:sp>
        <p:nvSpPr>
          <p:cNvPr id="31" name="Rectangle 30"/>
          <p:cNvSpPr/>
          <p:nvPr/>
        </p:nvSpPr>
        <p:spPr>
          <a:xfrm>
            <a:off x="658368" y="3630168"/>
            <a:ext cx="8229600" cy="306324"/>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707892"/>
            <a:ext cx="8046720" cy="306324"/>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Expandable agent trace with timestamps and MCP request/response</a:t>
            </a:r>
          </a:p>
        </p:txBody>
      </p:sp>
      <p:sp>
        <p:nvSpPr>
          <p:cNvPr id="33" name="Rectangle 32"/>
          <p:cNvSpPr/>
          <p:nvPr/>
        </p:nvSpPr>
        <p:spPr>
          <a:xfrm>
            <a:off x="8887968" y="3630168"/>
            <a:ext cx="2651760" cy="306324"/>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97696" y="3707892"/>
            <a:ext cx="2468880" cy="306324"/>
          </a:xfrm>
          <a:prstGeom prst="rect">
            <a:avLst/>
          </a:prstGeom>
          <a:noFill/>
        </p:spPr>
        <p:txBody>
          <a:bodyPr wrap="square" anchor="t" lIns="0" rIns="0" tIns="0" bIns="0">
            <a:spAutoFit/>
          </a:bodyPr>
          <a:lstStyle/>
          <a:p>
            <a:pPr algn="l">
              <a:lnSpc>
                <a:spcPct val="100000"/>
              </a:lnSpc>
              <a:spcAft>
                <a:spcPts val="0"/>
              </a:spcAft>
            </a:pPr>
            <a:r>
              <a:rPr sz="1100" b="0">
                <a:solidFill>
                  <a:srgbClr val="087443"/>
                </a:solidFill>
                <a:latin typeface="Arial"/>
              </a:rPr>
              <a:t>✓ Shipped</a:t>
            </a:r>
          </a:p>
        </p:txBody>
      </p:sp>
      <p:sp>
        <p:nvSpPr>
          <p:cNvPr id="35" name="Rectangle 34"/>
          <p:cNvSpPr/>
          <p:nvPr/>
        </p:nvSpPr>
        <p:spPr>
          <a:xfrm>
            <a:off x="658368" y="3936492"/>
            <a:ext cx="8229600" cy="30632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 y="4014216"/>
            <a:ext cx="8046720" cy="306324"/>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'Why this decision?' from recorded state, not chain-of-thought</a:t>
            </a:r>
          </a:p>
        </p:txBody>
      </p:sp>
      <p:sp>
        <p:nvSpPr>
          <p:cNvPr id="37" name="Rectangle 36"/>
          <p:cNvSpPr/>
          <p:nvPr/>
        </p:nvSpPr>
        <p:spPr>
          <a:xfrm>
            <a:off x="8887968" y="3936492"/>
            <a:ext cx="2651760" cy="30632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97696" y="4014216"/>
            <a:ext cx="2468880" cy="306324"/>
          </a:xfrm>
          <a:prstGeom prst="rect">
            <a:avLst/>
          </a:prstGeom>
          <a:noFill/>
        </p:spPr>
        <p:txBody>
          <a:bodyPr wrap="square" anchor="t" lIns="0" rIns="0" tIns="0" bIns="0">
            <a:spAutoFit/>
          </a:bodyPr>
          <a:lstStyle/>
          <a:p>
            <a:pPr algn="l">
              <a:lnSpc>
                <a:spcPct val="100000"/>
              </a:lnSpc>
              <a:spcAft>
                <a:spcPts val="0"/>
              </a:spcAft>
            </a:pPr>
            <a:r>
              <a:rPr sz="1100" b="0">
                <a:solidFill>
                  <a:srgbClr val="087443"/>
                </a:solidFill>
                <a:latin typeface="Arial"/>
              </a:rPr>
              <a:t>✓ Shipped</a:t>
            </a:r>
          </a:p>
        </p:txBody>
      </p:sp>
      <p:sp>
        <p:nvSpPr>
          <p:cNvPr id="39" name="Rectangle 38"/>
          <p:cNvSpPr/>
          <p:nvPr/>
        </p:nvSpPr>
        <p:spPr>
          <a:xfrm>
            <a:off x="658368" y="4242816"/>
            <a:ext cx="8229600" cy="306324"/>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8096" y="4320540"/>
            <a:ext cx="8046720" cy="306324"/>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Before/after metrics: auto-resolve rate, escalations, minutes saved</a:t>
            </a:r>
          </a:p>
        </p:txBody>
      </p:sp>
      <p:sp>
        <p:nvSpPr>
          <p:cNvPr id="41" name="Rectangle 40"/>
          <p:cNvSpPr/>
          <p:nvPr/>
        </p:nvSpPr>
        <p:spPr>
          <a:xfrm>
            <a:off x="8887968" y="4242816"/>
            <a:ext cx="2651760" cy="306324"/>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97696" y="4320540"/>
            <a:ext cx="2468880" cy="306324"/>
          </a:xfrm>
          <a:prstGeom prst="rect">
            <a:avLst/>
          </a:prstGeom>
          <a:noFill/>
        </p:spPr>
        <p:txBody>
          <a:bodyPr wrap="square" anchor="t" lIns="0" rIns="0" tIns="0" bIns="0">
            <a:spAutoFit/>
          </a:bodyPr>
          <a:lstStyle/>
          <a:p>
            <a:pPr algn="l">
              <a:lnSpc>
                <a:spcPct val="100000"/>
              </a:lnSpc>
              <a:spcAft>
                <a:spcPts val="0"/>
              </a:spcAft>
            </a:pPr>
            <a:r>
              <a:rPr sz="1100" b="0">
                <a:solidFill>
                  <a:srgbClr val="087443"/>
                </a:solidFill>
                <a:latin typeface="Arial"/>
              </a:rPr>
              <a:t>✓ KPI row</a:t>
            </a:r>
          </a:p>
        </p:txBody>
      </p:sp>
      <p:sp>
        <p:nvSpPr>
          <p:cNvPr id="43" name="Rectangle 42"/>
          <p:cNvSpPr/>
          <p:nvPr/>
        </p:nvSpPr>
        <p:spPr>
          <a:xfrm>
            <a:off x="658368" y="4549140"/>
            <a:ext cx="8229600" cy="30632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4626864"/>
            <a:ext cx="8046720" cy="306324"/>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Demo mode with six golden tickets, plus a 30–50 ticket batch</a:t>
            </a:r>
          </a:p>
        </p:txBody>
      </p:sp>
      <p:sp>
        <p:nvSpPr>
          <p:cNvPr id="45" name="Rectangle 44"/>
          <p:cNvSpPr/>
          <p:nvPr/>
        </p:nvSpPr>
        <p:spPr>
          <a:xfrm>
            <a:off x="8887968" y="4549140"/>
            <a:ext cx="2651760" cy="30632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97696" y="4626864"/>
            <a:ext cx="2468880" cy="306324"/>
          </a:xfrm>
          <a:prstGeom prst="rect">
            <a:avLst/>
          </a:prstGeom>
          <a:noFill/>
        </p:spPr>
        <p:txBody>
          <a:bodyPr wrap="square" anchor="t" lIns="0" rIns="0" tIns="0" bIns="0">
            <a:spAutoFit/>
          </a:bodyPr>
          <a:lstStyle/>
          <a:p>
            <a:pPr algn="l">
              <a:lnSpc>
                <a:spcPct val="100000"/>
              </a:lnSpc>
              <a:spcAft>
                <a:spcPts val="0"/>
              </a:spcAft>
            </a:pPr>
            <a:r>
              <a:rPr sz="1100" b="0">
                <a:solidFill>
                  <a:srgbClr val="087443"/>
                </a:solidFill>
                <a:latin typeface="Arial"/>
              </a:rPr>
              <a:t>✓ 6 / 36 / 50 CSV</a:t>
            </a:r>
          </a:p>
        </p:txBody>
      </p:sp>
      <p:sp>
        <p:nvSpPr>
          <p:cNvPr id="47" name="Rectangle 46"/>
          <p:cNvSpPr/>
          <p:nvPr/>
        </p:nvSpPr>
        <p:spPr>
          <a:xfrm>
            <a:off x="658368" y="4855464"/>
            <a:ext cx="8229600" cy="306324"/>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8096" y="4933188"/>
            <a:ext cx="8046720" cy="306324"/>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Safe failure when the LLM or MCP server is unavailable</a:t>
            </a:r>
          </a:p>
        </p:txBody>
      </p:sp>
      <p:sp>
        <p:nvSpPr>
          <p:cNvPr id="49" name="Rectangle 48"/>
          <p:cNvSpPr/>
          <p:nvPr/>
        </p:nvSpPr>
        <p:spPr>
          <a:xfrm>
            <a:off x="8887968" y="4855464"/>
            <a:ext cx="2651760" cy="306324"/>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97696" y="4933188"/>
            <a:ext cx="2468880" cy="306324"/>
          </a:xfrm>
          <a:prstGeom prst="rect">
            <a:avLst/>
          </a:prstGeom>
          <a:noFill/>
        </p:spPr>
        <p:txBody>
          <a:bodyPr wrap="square" anchor="t" lIns="0" rIns="0" tIns="0" bIns="0">
            <a:spAutoFit/>
          </a:bodyPr>
          <a:lstStyle/>
          <a:p>
            <a:pPr algn="l">
              <a:lnSpc>
                <a:spcPct val="100000"/>
              </a:lnSpc>
              <a:spcAft>
                <a:spcPts val="0"/>
              </a:spcAft>
            </a:pPr>
            <a:r>
              <a:rPr sz="1100" b="0">
                <a:solidFill>
                  <a:srgbClr val="087443"/>
                </a:solidFill>
                <a:latin typeface="Arial"/>
              </a:rPr>
              <a:t>✓ Tested both</a:t>
            </a:r>
          </a:p>
        </p:txBody>
      </p:sp>
      <p:sp>
        <p:nvSpPr>
          <p:cNvPr id="51" name="Rectangle 50"/>
          <p:cNvSpPr/>
          <p:nvPr/>
        </p:nvSpPr>
        <p:spPr>
          <a:xfrm>
            <a:off x="658368" y="5161788"/>
            <a:ext cx="8229600" cy="30632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8096" y="5239512"/>
            <a:ext cx="8046720" cy="306324"/>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Download results as CSV and the trace as JSON</a:t>
            </a:r>
          </a:p>
        </p:txBody>
      </p:sp>
      <p:sp>
        <p:nvSpPr>
          <p:cNvPr id="53" name="Rectangle 52"/>
          <p:cNvSpPr/>
          <p:nvPr/>
        </p:nvSpPr>
        <p:spPr>
          <a:xfrm>
            <a:off x="8887968" y="5161788"/>
            <a:ext cx="2651760" cy="306324"/>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97696" y="5239512"/>
            <a:ext cx="2468880" cy="306324"/>
          </a:xfrm>
          <a:prstGeom prst="rect">
            <a:avLst/>
          </a:prstGeom>
          <a:noFill/>
        </p:spPr>
        <p:txBody>
          <a:bodyPr wrap="square" anchor="t" lIns="0" rIns="0" tIns="0" bIns="0">
            <a:spAutoFit/>
          </a:bodyPr>
          <a:lstStyle/>
          <a:p>
            <a:pPr algn="l">
              <a:lnSpc>
                <a:spcPct val="100000"/>
              </a:lnSpc>
              <a:spcAft>
                <a:spcPts val="0"/>
              </a:spcAft>
            </a:pPr>
            <a:r>
              <a:rPr sz="1100" b="0">
                <a:solidFill>
                  <a:srgbClr val="087443"/>
                </a:solidFill>
                <a:latin typeface="Arial"/>
              </a:rPr>
              <a:t>✓ Shipped</a:t>
            </a:r>
          </a:p>
        </p:txBody>
      </p:sp>
      <p:sp>
        <p:nvSpPr>
          <p:cNvPr id="55" name="Rectangle 54"/>
          <p:cNvSpPr/>
          <p:nvPr/>
        </p:nvSpPr>
        <p:spPr>
          <a:xfrm>
            <a:off x="658368" y="5468112"/>
            <a:ext cx="8229600" cy="306324"/>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8096" y="5545836"/>
            <a:ext cx="8046720" cy="306324"/>
          </a:xfrm>
          <a:prstGeom prst="rect">
            <a:avLst/>
          </a:prstGeom>
          <a:noFill/>
        </p:spPr>
        <p:txBody>
          <a:bodyPr wrap="square" anchor="t" lIns="0" rIns="0" tIns="0" bIns="0">
            <a:spAutoFit/>
          </a:bodyPr>
          <a:lstStyle/>
          <a:p>
            <a:pPr algn="l">
              <a:lnSpc>
                <a:spcPct val="100000"/>
              </a:lnSpc>
              <a:spcAft>
                <a:spcPts val="0"/>
              </a:spcAft>
            </a:pPr>
            <a:r>
              <a:rPr sz="1100" b="0">
                <a:solidFill>
                  <a:srgbClr val="172033"/>
                </a:solidFill>
                <a:latin typeface="Arial"/>
              </a:rPr>
              <a:t>Deterministic evaluation page: expected vs actual accuracy</a:t>
            </a:r>
          </a:p>
        </p:txBody>
      </p:sp>
      <p:sp>
        <p:nvSpPr>
          <p:cNvPr id="57" name="Rectangle 56"/>
          <p:cNvSpPr/>
          <p:nvPr/>
        </p:nvSpPr>
        <p:spPr>
          <a:xfrm>
            <a:off x="8887968" y="5468112"/>
            <a:ext cx="2651760" cy="306324"/>
          </a:xfrm>
          <a:prstGeom prst="rect">
            <a:avLst/>
          </a:prstGeom>
          <a:solidFill>
            <a:srgbClr val="ECEFF9"/>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997696" y="5545836"/>
            <a:ext cx="2468880" cy="306324"/>
          </a:xfrm>
          <a:prstGeom prst="rect">
            <a:avLst/>
          </a:prstGeom>
          <a:noFill/>
        </p:spPr>
        <p:txBody>
          <a:bodyPr wrap="square" anchor="t" lIns="0" rIns="0" tIns="0" bIns="0">
            <a:spAutoFit/>
          </a:bodyPr>
          <a:lstStyle/>
          <a:p>
            <a:pPr algn="l">
              <a:lnSpc>
                <a:spcPct val="100000"/>
              </a:lnSpc>
              <a:spcAft>
                <a:spcPts val="0"/>
              </a:spcAft>
            </a:pPr>
            <a:r>
              <a:rPr sz="1100" b="0">
                <a:solidFill>
                  <a:srgbClr val="087443"/>
                </a:solidFill>
                <a:latin typeface="Arial"/>
              </a:rPr>
              <a:t>✓ 7 gates</a:t>
            </a:r>
          </a:p>
        </p:txBody>
      </p:sp>
      <p:sp>
        <p:nvSpPr>
          <p:cNvPr id="59" name="TextBox 58"/>
          <p:cNvSpPr txBox="1"/>
          <p:nvPr/>
        </p:nvSpPr>
        <p:spPr>
          <a:xfrm>
            <a:off x="658368" y="5961888"/>
            <a:ext cx="10881360" cy="274320"/>
          </a:xfrm>
          <a:prstGeom prst="rect">
            <a:avLst/>
          </a:prstGeom>
          <a:noFill/>
        </p:spPr>
        <p:txBody>
          <a:bodyPr wrap="square" anchor="t" lIns="0" rIns="0" tIns="0" bIns="0">
            <a:spAutoFit/>
          </a:bodyPr>
          <a:lstStyle/>
          <a:p>
            <a:pPr algn="l">
              <a:lnSpc>
                <a:spcPct val="100000"/>
              </a:lnSpc>
              <a:spcAft>
                <a:spcPts val="0"/>
              </a:spcAft>
            </a:pPr>
            <a:r>
              <a:rPr sz="1150" b="1">
                <a:solidFill>
                  <a:srgbClr val="087443"/>
                </a:solidFill>
                <a:latin typeface="Arial"/>
              </a:rPr>
              <a:t>Twelve of twelve reinforcing features delivered, alongside the four required proofs.</a:t>
            </a:r>
          </a:p>
        </p:txBody>
      </p:sp>
      <p:sp>
        <p:nvSpPr>
          <p:cNvPr id="60" name="TextBox 59"/>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61" name="TextBox 60"/>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SCOPE</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Where the build went past the brief — and why</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92224"/>
            <a:ext cx="10881360" cy="310896"/>
          </a:xfrm>
          <a:prstGeom prst="rect">
            <a:avLst/>
          </a:prstGeom>
          <a:noFill/>
        </p:spPr>
        <p:txBody>
          <a:bodyPr wrap="square" anchor="t" lIns="0" rIns="0" tIns="0" bIns="0">
            <a:spAutoFit/>
          </a:bodyPr>
          <a:lstStyle/>
          <a:p>
            <a:pPr algn="l">
              <a:lnSpc>
                <a:spcPct val="100000"/>
              </a:lnSpc>
              <a:spcAft>
                <a:spcPts val="0"/>
              </a:spcAft>
            </a:pPr>
            <a:r>
              <a:rPr sz="1200" b="0">
                <a:solidFill>
                  <a:srgbClr val="172033"/>
                </a:solidFill>
                <a:latin typeface="Arial"/>
              </a:rPr>
              <a:t>The playbook deliberately deferred these to protect the time-box. They were added only after the core demo worked.</a:t>
            </a:r>
          </a:p>
        </p:txBody>
      </p:sp>
      <p:sp>
        <p:nvSpPr>
          <p:cNvPr id="8" name="Rectangle 7"/>
          <p:cNvSpPr/>
          <p:nvPr/>
        </p:nvSpPr>
        <p:spPr>
          <a:xfrm>
            <a:off x="658368" y="2212848"/>
            <a:ext cx="10881360" cy="89611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212848"/>
            <a:ext cx="45720" cy="89611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40864"/>
            <a:ext cx="2651760" cy="292608"/>
          </a:xfrm>
          <a:prstGeom prst="rect">
            <a:avLst/>
          </a:prstGeom>
          <a:noFill/>
        </p:spPr>
        <p:txBody>
          <a:bodyPr wrap="square" anchor="t" lIns="0" rIns="0" tIns="0" bIns="0">
            <a:spAutoFit/>
          </a:bodyPr>
          <a:lstStyle/>
          <a:p>
            <a:pPr algn="l">
              <a:lnSpc>
                <a:spcPct val="100000"/>
              </a:lnSpc>
              <a:spcAft>
                <a:spcPts val="0"/>
              </a:spcAft>
            </a:pPr>
            <a:r>
              <a:rPr sz="1250" b="1">
                <a:solidFill>
                  <a:srgbClr val="0B1739"/>
                </a:solidFill>
                <a:latin typeface="Arial"/>
              </a:rPr>
              <a:t>Real vector RAG</a:t>
            </a:r>
          </a:p>
        </p:txBody>
      </p:sp>
      <p:sp>
        <p:nvSpPr>
          <p:cNvPr id="11" name="TextBox 10"/>
          <p:cNvSpPr txBox="1"/>
          <p:nvPr/>
        </p:nvSpPr>
        <p:spPr>
          <a:xfrm>
            <a:off x="914400" y="2651760"/>
            <a:ext cx="10332720" cy="402336"/>
          </a:xfrm>
          <a:prstGeom prst="rect">
            <a:avLst/>
          </a:prstGeom>
          <a:noFill/>
        </p:spPr>
        <p:txBody>
          <a:bodyPr wrap="square" anchor="t" lIns="0" rIns="0" tIns="0" bIns="0">
            <a:spAutoFit/>
          </a:bodyPr>
          <a:lstStyle/>
          <a:p>
            <a:pPr algn="l">
              <a:lnSpc>
                <a:spcPct val="112000"/>
              </a:lnSpc>
              <a:spcAft>
                <a:spcPts val="0"/>
              </a:spcAft>
            </a:pPr>
            <a:r>
              <a:rPr sz="1080" b="0">
                <a:solidFill>
                  <a:srgbClr val="596579"/>
                </a:solidFill>
                <a:latin typeface="Arial"/>
              </a:rPr>
              <a:t>The brief suggested deterministic TF-IDF to avoid embedding risk. Paraphrase recall was the weak point, so retrieval moved to Qdrant dense + BM25 with a transparent rerank — top-1 went from 5/9 to 9/9.</a:t>
            </a:r>
          </a:p>
        </p:txBody>
      </p:sp>
      <p:sp>
        <p:nvSpPr>
          <p:cNvPr id="12" name="Rectangle 11"/>
          <p:cNvSpPr/>
          <p:nvPr/>
        </p:nvSpPr>
        <p:spPr>
          <a:xfrm>
            <a:off x="658368" y="3200400"/>
            <a:ext cx="10881360" cy="89611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200400"/>
            <a:ext cx="45720" cy="89611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328416"/>
            <a:ext cx="2651760" cy="292608"/>
          </a:xfrm>
          <a:prstGeom prst="rect">
            <a:avLst/>
          </a:prstGeom>
          <a:noFill/>
        </p:spPr>
        <p:txBody>
          <a:bodyPr wrap="square" anchor="t" lIns="0" rIns="0" tIns="0" bIns="0">
            <a:spAutoFit/>
          </a:bodyPr>
          <a:lstStyle/>
          <a:p>
            <a:pPr algn="l">
              <a:lnSpc>
                <a:spcPct val="100000"/>
              </a:lnSpc>
              <a:spcAft>
                <a:spcPts val="0"/>
              </a:spcAft>
            </a:pPr>
            <a:r>
              <a:rPr sz="1250" b="1">
                <a:solidFill>
                  <a:srgbClr val="0B1739"/>
                </a:solidFill>
                <a:latin typeface="Arial"/>
              </a:rPr>
              <a:t>Fail-closed grounding</a:t>
            </a:r>
          </a:p>
        </p:txBody>
      </p:sp>
      <p:sp>
        <p:nvSpPr>
          <p:cNvPr id="15" name="TextBox 14"/>
          <p:cNvSpPr txBox="1"/>
          <p:nvPr/>
        </p:nvSpPr>
        <p:spPr>
          <a:xfrm>
            <a:off x="914400" y="3639312"/>
            <a:ext cx="10332720" cy="402336"/>
          </a:xfrm>
          <a:prstGeom prst="rect">
            <a:avLst/>
          </a:prstGeom>
          <a:noFill/>
        </p:spPr>
        <p:txBody>
          <a:bodyPr wrap="square" anchor="t" lIns="0" rIns="0" tIns="0" bIns="0">
            <a:spAutoFit/>
          </a:bodyPr>
          <a:lstStyle/>
          <a:p>
            <a:pPr algn="l">
              <a:lnSpc>
                <a:spcPct val="112000"/>
              </a:lnSpc>
              <a:spcAft>
                <a:spcPts val="0"/>
              </a:spcAft>
            </a:pPr>
            <a:r>
              <a:rPr sz="1080" b="0">
                <a:solidFill>
                  <a:srgbClr val="596579"/>
                </a:solidFill>
                <a:latin typeface="Arial"/>
              </a:rPr>
              <a:t>Not requested. Citation IDs and exact supporting quotes are verified before any draft is shown; failure withholds the answer and escalates.</a:t>
            </a:r>
          </a:p>
        </p:txBody>
      </p:sp>
      <p:sp>
        <p:nvSpPr>
          <p:cNvPr id="16" name="Rectangle 15"/>
          <p:cNvSpPr/>
          <p:nvPr/>
        </p:nvSpPr>
        <p:spPr>
          <a:xfrm>
            <a:off x="658368" y="4187952"/>
            <a:ext cx="10881360" cy="89611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4187952"/>
            <a:ext cx="45720" cy="89611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315968"/>
            <a:ext cx="2651760" cy="292608"/>
          </a:xfrm>
          <a:prstGeom prst="rect">
            <a:avLst/>
          </a:prstGeom>
          <a:noFill/>
        </p:spPr>
        <p:txBody>
          <a:bodyPr wrap="square" anchor="t" lIns="0" rIns="0" tIns="0" bIns="0">
            <a:spAutoFit/>
          </a:bodyPr>
          <a:lstStyle/>
          <a:p>
            <a:pPr algn="l">
              <a:lnSpc>
                <a:spcPct val="100000"/>
              </a:lnSpc>
              <a:spcAft>
                <a:spcPts val="0"/>
              </a:spcAft>
            </a:pPr>
            <a:r>
              <a:rPr sz="1250" b="1">
                <a:solidFill>
                  <a:srgbClr val="0B1739"/>
                </a:solidFill>
                <a:latin typeface="Arial"/>
              </a:rPr>
              <a:t>Persistent knowledge base</a:t>
            </a:r>
          </a:p>
        </p:txBody>
      </p:sp>
      <p:sp>
        <p:nvSpPr>
          <p:cNvPr id="19" name="TextBox 18"/>
          <p:cNvSpPr txBox="1"/>
          <p:nvPr/>
        </p:nvSpPr>
        <p:spPr>
          <a:xfrm>
            <a:off x="914400" y="4626864"/>
            <a:ext cx="10332720" cy="402336"/>
          </a:xfrm>
          <a:prstGeom prst="rect">
            <a:avLst/>
          </a:prstGeom>
          <a:noFill/>
        </p:spPr>
        <p:txBody>
          <a:bodyPr wrap="square" anchor="t" lIns="0" rIns="0" tIns="0" bIns="0">
            <a:spAutoFit/>
          </a:bodyPr>
          <a:lstStyle/>
          <a:p>
            <a:pPr algn="l">
              <a:lnSpc>
                <a:spcPct val="112000"/>
              </a:lnSpc>
              <a:spcAft>
                <a:spcPts val="0"/>
              </a:spcAft>
            </a:pPr>
            <a:r>
              <a:rPr sz="1080" b="0">
                <a:solidFill>
                  <a:srgbClr val="596579"/>
                </a:solidFill>
                <a:latin typeface="Arial"/>
              </a:rPr>
              <a:t>SQLite plus Qdrant with full ingestion, replacement, and restore — so the app works on a team's own documents, not only fixtures.</a:t>
            </a:r>
          </a:p>
        </p:txBody>
      </p:sp>
      <p:sp>
        <p:nvSpPr>
          <p:cNvPr id="20" name="Rectangle 19"/>
          <p:cNvSpPr/>
          <p:nvPr/>
        </p:nvSpPr>
        <p:spPr>
          <a:xfrm>
            <a:off x="658368" y="5175504"/>
            <a:ext cx="10881360" cy="896112"/>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5175504"/>
            <a:ext cx="45720" cy="89611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303520"/>
            <a:ext cx="2651760" cy="292608"/>
          </a:xfrm>
          <a:prstGeom prst="rect">
            <a:avLst/>
          </a:prstGeom>
          <a:noFill/>
        </p:spPr>
        <p:txBody>
          <a:bodyPr wrap="square" anchor="t" lIns="0" rIns="0" tIns="0" bIns="0">
            <a:spAutoFit/>
          </a:bodyPr>
          <a:lstStyle/>
          <a:p>
            <a:pPr algn="l">
              <a:lnSpc>
                <a:spcPct val="100000"/>
              </a:lnSpc>
              <a:spcAft>
                <a:spcPts val="0"/>
              </a:spcAft>
            </a:pPr>
            <a:r>
              <a:rPr sz="1250" b="1">
                <a:solidFill>
                  <a:srgbClr val="0B1739"/>
                </a:solidFill>
                <a:latin typeface="Arial"/>
              </a:rPr>
              <a:t>Docker packaging</a:t>
            </a:r>
          </a:p>
        </p:txBody>
      </p:sp>
      <p:sp>
        <p:nvSpPr>
          <p:cNvPr id="23" name="TextBox 22"/>
          <p:cNvSpPr txBox="1"/>
          <p:nvPr/>
        </p:nvSpPr>
        <p:spPr>
          <a:xfrm>
            <a:off x="914400" y="5614416"/>
            <a:ext cx="10332720" cy="402336"/>
          </a:xfrm>
          <a:prstGeom prst="rect">
            <a:avLst/>
          </a:prstGeom>
          <a:noFill/>
        </p:spPr>
        <p:txBody>
          <a:bodyPr wrap="square" anchor="t" lIns="0" rIns="0" tIns="0" bIns="0">
            <a:spAutoFit/>
          </a:bodyPr>
          <a:lstStyle/>
          <a:p>
            <a:pPr algn="l">
              <a:lnSpc>
                <a:spcPct val="112000"/>
              </a:lnSpc>
              <a:spcAft>
                <a:spcPts val="0"/>
              </a:spcAft>
            </a:pPr>
            <a:r>
              <a:rPr sz="1080" b="0">
                <a:solidFill>
                  <a:srgbClr val="596579"/>
                </a:solidFill>
                <a:latin typeface="Arial"/>
              </a:rPr>
              <a:t>A pinned 120-package lockfile, healthcheck, non-root user, and a named volume. The suite passes inside the image.</a:t>
            </a:r>
          </a:p>
        </p:txBody>
      </p:sp>
      <p:sp>
        <p:nvSpPr>
          <p:cNvPr id="24" name="TextBox 23"/>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25" name="TextBox 24"/>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75488"/>
            <a:ext cx="10881360" cy="256032"/>
          </a:xfrm>
          <a:prstGeom prst="rect">
            <a:avLst/>
          </a:prstGeom>
          <a:noFill/>
        </p:spPr>
        <p:txBody>
          <a:bodyPr wrap="square" anchor="t" lIns="0" rIns="0" tIns="0" bIns="0">
            <a:spAutoFit/>
          </a:bodyPr>
          <a:lstStyle/>
          <a:p>
            <a:pPr algn="l">
              <a:lnSpc>
                <a:spcPct val="100000"/>
              </a:lnSpc>
              <a:spcAft>
                <a:spcPts val="0"/>
              </a:spcAft>
            </a:pPr>
            <a:r>
              <a:rPr sz="1100" b="1">
                <a:solidFill>
                  <a:srgbClr val="4F46E5"/>
                </a:solidFill>
                <a:latin typeface="Arial"/>
              </a:rPr>
              <a:t>HONEST LIMITS</a:t>
            </a:r>
          </a:p>
        </p:txBody>
      </p:sp>
      <p:sp>
        <p:nvSpPr>
          <p:cNvPr id="5" name="TextBox 4"/>
          <p:cNvSpPr txBox="1"/>
          <p:nvPr/>
        </p:nvSpPr>
        <p:spPr>
          <a:xfrm>
            <a:off x="658368" y="786384"/>
            <a:ext cx="10881360" cy="566928"/>
          </a:xfrm>
          <a:prstGeom prst="rect">
            <a:avLst/>
          </a:prstGeom>
          <a:noFill/>
        </p:spPr>
        <p:txBody>
          <a:bodyPr wrap="square" anchor="t" lIns="0" rIns="0" tIns="0" bIns="0">
            <a:spAutoFit/>
          </a:bodyPr>
          <a:lstStyle/>
          <a:p>
            <a:pPr algn="l">
              <a:lnSpc>
                <a:spcPct val="100000"/>
              </a:lnSpc>
              <a:spcAft>
                <a:spcPts val="0"/>
              </a:spcAft>
            </a:pPr>
            <a:r>
              <a:rPr sz="3000" b="1">
                <a:solidFill>
                  <a:srgbClr val="0B1739"/>
                </a:solidFill>
                <a:latin typeface="Arial"/>
              </a:rPr>
              <a:t>What this build does not do</a:t>
            </a:r>
          </a:p>
        </p:txBody>
      </p:sp>
      <p:sp>
        <p:nvSpPr>
          <p:cNvPr id="6" name="Rectangle 5"/>
          <p:cNvSpPr/>
          <p:nvPr/>
        </p:nvSpPr>
        <p:spPr>
          <a:xfrm>
            <a:off x="658368" y="1481328"/>
            <a:ext cx="105156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847088"/>
            <a:ext cx="5394960" cy="4023360"/>
          </a:xfrm>
          <a:prstGeom prst="rect">
            <a:avLst/>
          </a:prstGeom>
          <a:noFill/>
        </p:spPr>
        <p:txBody>
          <a:bodyPr wrap="square" lIns="0" rIns="0" tIns="0" bIns="0">
            <a:spAutoFit/>
          </a:bodyPr>
          <a:lstStyle/>
          <a:p>
            <a:pPr>
              <a:lnSpc>
                <a:spcPct val="118000"/>
              </a:lnSpc>
              <a:spcAft>
                <a:spcPts val="1100"/>
              </a:spcAft>
            </a:pPr>
            <a:r>
              <a:rPr sz="1300" b="1">
                <a:solidFill>
                  <a:srgbClr val="4F46E5"/>
                </a:solidFill>
                <a:latin typeface="Arial"/>
              </a:rPr>
              <a:t>▪  </a:t>
            </a:r>
            <a:r>
              <a:rPr sz="1300" b="1">
                <a:solidFill>
                  <a:srgbClr val="172033"/>
                </a:solidFill>
                <a:latin typeface="Arial"/>
              </a:rPr>
              <a:t>No PII redaction. </a:t>
            </a:r>
            <a:r>
              <a:rPr sz="1300">
                <a:solidFill>
                  <a:srgbClr val="596579"/>
                </a:solidFill>
                <a:latin typeface="Arial"/>
              </a:rPr>
              <a:t>Users are warned not to submit secrets. Production needs redaction and retention controls.</a:t>
            </a:r>
          </a:p>
          <a:p>
            <a:pPr>
              <a:lnSpc>
                <a:spcPct val="118000"/>
              </a:lnSpc>
              <a:spcAft>
                <a:spcPts val="1100"/>
              </a:spcAft>
            </a:pPr>
            <a:r>
              <a:rPr sz="1300" b="1">
                <a:solidFill>
                  <a:srgbClr val="4F46E5"/>
                </a:solidFill>
                <a:latin typeface="Arial"/>
              </a:rPr>
              <a:t>▪  </a:t>
            </a:r>
            <a:r>
              <a:rPr sz="1300" b="1">
                <a:solidFill>
                  <a:srgbClr val="172033"/>
                </a:solidFill>
                <a:latin typeface="Arial"/>
              </a:rPr>
              <a:t>Session-scoped results. </a:t>
            </a:r>
            <a:r>
              <a:rPr sz="1300">
                <a:solidFill>
                  <a:srgbClr val="596579"/>
                </a:solidFill>
                <a:latin typeface="Arial"/>
              </a:rPr>
              <a:t>Ticket outcomes and audit entries live in the session; only knowledge persists.</a:t>
            </a:r>
          </a:p>
          <a:p>
            <a:pPr>
              <a:lnSpc>
                <a:spcPct val="118000"/>
              </a:lnSpc>
              <a:spcAft>
                <a:spcPts val="1100"/>
              </a:spcAft>
            </a:pPr>
            <a:r>
              <a:rPr sz="1300" b="1">
                <a:solidFill>
                  <a:srgbClr val="4F46E5"/>
                </a:solidFill>
                <a:latin typeface="Arial"/>
              </a:rPr>
              <a:t>▪  </a:t>
            </a:r>
            <a:r>
              <a:rPr sz="1300" b="1">
                <a:solidFill>
                  <a:srgbClr val="172033"/>
                </a:solidFill>
                <a:latin typeface="Arial"/>
              </a:rPr>
              <a:t>Embedded Qdrant. </a:t>
            </a:r>
            <a:r>
              <a:rPr sz="1300">
                <a:solidFill>
                  <a:srgbClr val="596579"/>
                </a:solidFill>
                <a:latin typeface="Arial"/>
              </a:rPr>
              <a:t>Local persistent mode, not a hosted multi-instance service.</a:t>
            </a:r>
          </a:p>
          <a:p>
            <a:pPr>
              <a:lnSpc>
                <a:spcPct val="118000"/>
              </a:lnSpc>
              <a:spcAft>
                <a:spcPts val="1100"/>
              </a:spcAft>
            </a:pPr>
            <a:r>
              <a:rPr sz="1300" b="1">
                <a:solidFill>
                  <a:srgbClr val="4F46E5"/>
                </a:solidFill>
                <a:latin typeface="Arial"/>
              </a:rPr>
              <a:t>▪  </a:t>
            </a:r>
            <a:r>
              <a:rPr sz="1300" b="1">
                <a:solidFill>
                  <a:srgbClr val="172033"/>
                </a:solidFill>
                <a:latin typeface="Arial"/>
              </a:rPr>
              <a:t>A process per lookup. </a:t>
            </a:r>
            <a:r>
              <a:rPr sz="1300">
                <a:solidFill>
                  <a:srgbClr val="596579"/>
                </a:solidFill>
                <a:latin typeface="Arial"/>
              </a:rPr>
              <a:t>Chosen for visible isolation; it costs throughput.</a:t>
            </a:r>
          </a:p>
        </p:txBody>
      </p:sp>
      <p:sp>
        <p:nvSpPr>
          <p:cNvPr id="8" name="Rectangle 7"/>
          <p:cNvSpPr/>
          <p:nvPr/>
        </p:nvSpPr>
        <p:spPr>
          <a:xfrm>
            <a:off x="6400800" y="1847088"/>
            <a:ext cx="5120640" cy="137160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1847088"/>
            <a:ext cx="5120640" cy="45720"/>
          </a:xfrm>
          <a:prstGeom prst="rect">
            <a:avLst/>
          </a:prstGeom>
          <a:solidFill>
            <a:srgbClr val="9A6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01968" y="2084832"/>
            <a:ext cx="4718304" cy="274320"/>
          </a:xfrm>
          <a:prstGeom prst="rect">
            <a:avLst/>
          </a:prstGeom>
          <a:noFill/>
        </p:spPr>
        <p:txBody>
          <a:bodyPr wrap="square" anchor="t" lIns="0" rIns="0" tIns="0" bIns="0">
            <a:spAutoFit/>
          </a:bodyPr>
          <a:lstStyle/>
          <a:p>
            <a:pPr algn="l">
              <a:lnSpc>
                <a:spcPct val="100000"/>
              </a:lnSpc>
              <a:spcAft>
                <a:spcPts val="400"/>
              </a:spcAft>
            </a:pPr>
            <a:r>
              <a:rPr sz="1300" b="1">
                <a:solidFill>
                  <a:srgbClr val="0B1739"/>
                </a:solidFill>
                <a:latin typeface="Arial"/>
              </a:rPr>
              <a:t>No production auth or helpdesk integration</a:t>
            </a:r>
          </a:p>
        </p:txBody>
      </p:sp>
      <p:sp>
        <p:nvSpPr>
          <p:cNvPr id="11" name="TextBox 10"/>
          <p:cNvSpPr txBox="1"/>
          <p:nvPr/>
        </p:nvSpPr>
        <p:spPr>
          <a:xfrm>
            <a:off x="6601968" y="2414016"/>
            <a:ext cx="4718304" cy="640080"/>
          </a:xfrm>
          <a:prstGeom prst="rect">
            <a:avLst/>
          </a:prstGeom>
          <a:noFill/>
        </p:spPr>
        <p:txBody>
          <a:bodyPr wrap="square" anchor="t" lIns="0" rIns="0" tIns="0" bIns="0">
            <a:spAutoFit/>
          </a:bodyPr>
          <a:lstStyle/>
          <a:p>
            <a:pPr algn="l">
              <a:lnSpc>
                <a:spcPct val="116000"/>
              </a:lnSpc>
              <a:spcAft>
                <a:spcPts val="0"/>
              </a:spcAft>
            </a:pPr>
            <a:r>
              <a:rPr sz="1100" b="0">
                <a:solidFill>
                  <a:srgbClr val="596579"/>
                </a:solidFill>
                <a:latin typeface="Arial"/>
              </a:rPr>
              <a:t>Out of scope by the brief. There is no Zendesk, Gmail, or SSO path.</a:t>
            </a:r>
          </a:p>
        </p:txBody>
      </p:sp>
      <p:sp>
        <p:nvSpPr>
          <p:cNvPr id="12" name="Rectangle 11"/>
          <p:cNvSpPr/>
          <p:nvPr/>
        </p:nvSpPr>
        <p:spPr>
          <a:xfrm>
            <a:off x="6400800" y="3383280"/>
            <a:ext cx="5120640" cy="1920240"/>
          </a:xfrm>
          <a:prstGeom prst="rect">
            <a:avLst/>
          </a:prstGeom>
          <a:solidFill>
            <a:srgbClr val="FFFFFF"/>
          </a:solidFill>
          <a:ln w="12700">
            <a:solidFill>
              <a:srgbClr val="DF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3383280"/>
            <a:ext cx="5120640"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3621024"/>
            <a:ext cx="4718304" cy="274320"/>
          </a:xfrm>
          <a:prstGeom prst="rect">
            <a:avLst/>
          </a:prstGeom>
          <a:noFill/>
        </p:spPr>
        <p:txBody>
          <a:bodyPr wrap="square" anchor="t" lIns="0" rIns="0" tIns="0" bIns="0">
            <a:spAutoFit/>
          </a:bodyPr>
          <a:lstStyle/>
          <a:p>
            <a:pPr algn="l">
              <a:lnSpc>
                <a:spcPct val="100000"/>
              </a:lnSpc>
              <a:spcAft>
                <a:spcPts val="400"/>
              </a:spcAft>
            </a:pPr>
            <a:r>
              <a:rPr sz="1300" b="1">
                <a:solidFill>
                  <a:srgbClr val="0B1739"/>
                </a:solidFill>
                <a:latin typeface="Arial"/>
              </a:rPr>
              <a:t>Quality check numbers move by design</a:t>
            </a:r>
          </a:p>
        </p:txBody>
      </p:sp>
      <p:sp>
        <p:nvSpPr>
          <p:cNvPr id="15" name="TextBox 14"/>
          <p:cNvSpPr txBox="1"/>
          <p:nvPr/>
        </p:nvSpPr>
        <p:spPr>
          <a:xfrm>
            <a:off x="6601968" y="3950208"/>
            <a:ext cx="4718304" cy="1188720"/>
          </a:xfrm>
          <a:prstGeom prst="rect">
            <a:avLst/>
          </a:prstGeom>
          <a:noFill/>
        </p:spPr>
        <p:txBody>
          <a:bodyPr wrap="square" anchor="t" lIns="0" rIns="0" tIns="0" bIns="0">
            <a:spAutoFit/>
          </a:bodyPr>
          <a:lstStyle/>
          <a:p>
            <a:pPr algn="l">
              <a:lnSpc>
                <a:spcPct val="116000"/>
              </a:lnSpc>
              <a:spcAft>
                <a:spcPts val="0"/>
              </a:spcAft>
            </a:pPr>
            <a:r>
              <a:rPr sz="1100" b="0">
                <a:solidFill>
                  <a:srgbClr val="596579"/>
                </a:solidFill>
                <a:latin typeface="Arial"/>
              </a:rPr>
              <a:t>That view measures whichever knowledge base is loaded, so it is not reproducible across corpora. Every run stamps a fingerprint and timestamp, and warns when the corpus changed. The fixed accuracy figures come from network-free fixtures instead.</a:t>
            </a:r>
          </a:p>
        </p:txBody>
      </p:sp>
      <p:sp>
        <p:nvSpPr>
          <p:cNvPr id="16" name="TextBox 15"/>
          <p:cNvSpPr txBox="1"/>
          <p:nvPr/>
        </p:nvSpPr>
        <p:spPr>
          <a:xfrm>
            <a:off x="658368" y="6327648"/>
            <a:ext cx="8229600" cy="237744"/>
          </a:xfrm>
          <a:prstGeom prst="rect">
            <a:avLst/>
          </a:prstGeom>
          <a:noFill/>
        </p:spPr>
        <p:txBody>
          <a:bodyPr wrap="square" anchor="t" lIns="0" rIns="0" tIns="0" bIns="0">
            <a:spAutoFit/>
          </a:bodyPr>
          <a:lstStyle/>
          <a:p>
            <a:pPr algn="l">
              <a:lnSpc>
                <a:spcPct val="100000"/>
              </a:lnSpc>
              <a:spcAft>
                <a:spcPts val="0"/>
              </a:spcAft>
            </a:pPr>
            <a:r>
              <a:rPr sz="900" b="0">
                <a:solidFill>
                  <a:srgbClr val="596579"/>
                </a:solidFill>
                <a:latin typeface="Arial"/>
              </a:rPr>
              <a:t>github.com/impradumanrana/ResolveFlow-Ticketing-triage</a:t>
            </a:r>
          </a:p>
        </p:txBody>
      </p:sp>
      <p:sp>
        <p:nvSpPr>
          <p:cNvPr id="17" name="TextBox 16"/>
          <p:cNvSpPr txBox="1"/>
          <p:nvPr/>
        </p:nvSpPr>
        <p:spPr>
          <a:xfrm>
            <a:off x="10607040" y="6327648"/>
            <a:ext cx="914400" cy="237744"/>
          </a:xfrm>
          <a:prstGeom prst="rect">
            <a:avLst/>
          </a:prstGeom>
          <a:noFill/>
        </p:spPr>
        <p:txBody>
          <a:bodyPr wrap="square" anchor="t" lIns="0" rIns="0" tIns="0" bIns="0">
            <a:spAutoFit/>
          </a:bodyPr>
          <a:lstStyle/>
          <a:p>
            <a:pPr algn="r">
              <a:lnSpc>
                <a:spcPct val="100000"/>
              </a:lnSpc>
              <a:spcAft>
                <a:spcPts val="0"/>
              </a:spcAft>
            </a:pPr>
            <a:r>
              <a:rPr sz="900" b="0">
                <a:solidFill>
                  <a:srgbClr val="596579"/>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048256"/>
            <a:ext cx="3291840"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340864"/>
            <a:ext cx="10241280" cy="640080"/>
          </a:xfrm>
          <a:prstGeom prst="rect">
            <a:avLst/>
          </a:prstGeom>
          <a:noFill/>
        </p:spPr>
        <p:txBody>
          <a:bodyPr wrap="square" anchor="t" lIns="0" rIns="0" tIns="0" bIns="0">
            <a:spAutoFit/>
          </a:bodyPr>
          <a:lstStyle/>
          <a:p>
            <a:pPr algn="l">
              <a:lnSpc>
                <a:spcPct val="100000"/>
              </a:lnSpc>
              <a:spcAft>
                <a:spcPts val="800"/>
              </a:spcAft>
            </a:pPr>
            <a:r>
              <a:rPr sz="4000" b="1">
                <a:solidFill>
                  <a:srgbClr val="FFFFFF"/>
                </a:solidFill>
                <a:latin typeface="Arial"/>
              </a:rPr>
              <a:t>ResolveFlow AI</a:t>
            </a:r>
          </a:p>
        </p:txBody>
      </p:sp>
      <p:sp>
        <p:nvSpPr>
          <p:cNvPr id="5" name="TextBox 4"/>
          <p:cNvSpPr txBox="1"/>
          <p:nvPr/>
        </p:nvSpPr>
        <p:spPr>
          <a:xfrm>
            <a:off x="1005840" y="3035808"/>
            <a:ext cx="9692640" cy="457200"/>
          </a:xfrm>
          <a:prstGeom prst="rect">
            <a:avLst/>
          </a:prstGeom>
          <a:noFill/>
        </p:spPr>
        <p:txBody>
          <a:bodyPr wrap="square" anchor="t" lIns="0" rIns="0" tIns="0" bIns="0">
            <a:spAutoFit/>
          </a:bodyPr>
          <a:lstStyle/>
          <a:p>
            <a:pPr algn="l">
              <a:lnSpc>
                <a:spcPct val="100000"/>
              </a:lnSpc>
              <a:spcAft>
                <a:spcPts val="0"/>
              </a:spcAft>
            </a:pPr>
            <a:r>
              <a:rPr sz="1900" b="0">
                <a:solidFill>
                  <a:srgbClr val="B9C4FF"/>
                </a:solidFill>
                <a:latin typeface="Arial"/>
              </a:rPr>
              <a:t>Relevance is necessary. It is never sufficient.</a:t>
            </a:r>
          </a:p>
        </p:txBody>
      </p:sp>
      <p:sp>
        <p:nvSpPr>
          <p:cNvPr id="6" name="TextBox 5"/>
          <p:cNvSpPr txBox="1"/>
          <p:nvPr/>
        </p:nvSpPr>
        <p:spPr>
          <a:xfrm>
            <a:off x="1005840" y="3767328"/>
            <a:ext cx="10058400" cy="457200"/>
          </a:xfrm>
          <a:prstGeom prst="rect">
            <a:avLst/>
          </a:prstGeom>
          <a:noFill/>
        </p:spPr>
        <p:txBody>
          <a:bodyPr wrap="square" anchor="t" lIns="0" rIns="0" tIns="0" bIns="0">
            <a:spAutoFit/>
          </a:bodyPr>
          <a:lstStyle/>
          <a:p>
            <a:pPr algn="l">
              <a:lnSpc>
                <a:spcPct val="128000"/>
              </a:lnSpc>
              <a:spcAft>
                <a:spcPts val="0"/>
              </a:spcAft>
            </a:pPr>
            <a:r>
              <a:rPr sz="1250" b="0">
                <a:solidFill>
                  <a:srgbClr val="A9B6E8"/>
                </a:solidFill>
                <a:latin typeface="Arial"/>
              </a:rPr>
              <a:t>The strongest moment in the demo is the contrast: one routine ticket resolved on observable MCP evidence, and one angry payment failure held back for a human despite a genuinely relevant article.</a:t>
            </a:r>
          </a:p>
        </p:txBody>
      </p:sp>
      <p:sp>
        <p:nvSpPr>
          <p:cNvPr id="7" name="Rectangle 6"/>
          <p:cNvSpPr/>
          <p:nvPr/>
        </p:nvSpPr>
        <p:spPr>
          <a:xfrm>
            <a:off x="1005840" y="4791456"/>
            <a:ext cx="10149840" cy="41148"/>
          </a:xfrm>
          <a:prstGeom prst="rect">
            <a:avLst/>
          </a:prstGeom>
          <a:solidFill>
            <a:srgbClr val="314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029200"/>
            <a:ext cx="5120640" cy="822960"/>
          </a:xfrm>
          <a:prstGeom prst="rect">
            <a:avLst/>
          </a:prstGeom>
          <a:noFill/>
        </p:spPr>
        <p:txBody>
          <a:bodyPr wrap="square" anchor="t" lIns="0" rIns="0" tIns="0" bIns="0">
            <a:spAutoFit/>
          </a:bodyPr>
          <a:lstStyle/>
          <a:p>
            <a:pPr algn="l">
              <a:lnSpc>
                <a:spcPct val="100000"/>
              </a:lnSpc>
              <a:spcAft>
                <a:spcPts val="400"/>
              </a:spcAft>
            </a:pPr>
            <a:r>
              <a:rPr sz="1300" b="1">
                <a:solidFill>
                  <a:srgbClr val="FFFFFF"/>
                </a:solidFill>
                <a:latin typeface="Arial"/>
              </a:rPr>
              <a:t>Parduman Rana  ·  Roll No. 131</a:t>
            </a:r>
          </a:p>
          <a:p>
            <a:pPr algn="l">
              <a:lnSpc>
                <a:spcPct val="100000"/>
              </a:lnSpc>
              <a:spcAft>
                <a:spcPts val="0"/>
              </a:spcAft>
            </a:pPr>
            <a:r>
              <a:rPr sz="1150" b="0">
                <a:solidFill>
                  <a:srgbClr val="B9C4FF"/>
                </a:solidFill>
                <a:latin typeface="Arial"/>
              </a:rPr>
              <a:t>Himshikhar Agentic AI Systems</a:t>
            </a:r>
          </a:p>
        </p:txBody>
      </p:sp>
      <p:sp>
        <p:nvSpPr>
          <p:cNvPr id="9" name="TextBox 8"/>
          <p:cNvSpPr txBox="1"/>
          <p:nvPr/>
        </p:nvSpPr>
        <p:spPr>
          <a:xfrm>
            <a:off x="6400800" y="5029200"/>
            <a:ext cx="4846320" cy="822960"/>
          </a:xfrm>
          <a:prstGeom prst="rect">
            <a:avLst/>
          </a:prstGeom>
          <a:noFill/>
        </p:spPr>
        <p:txBody>
          <a:bodyPr wrap="square" anchor="t" lIns="0" rIns="0" tIns="0" bIns="0">
            <a:spAutoFit/>
          </a:bodyPr>
          <a:lstStyle/>
          <a:p>
            <a:pPr algn="l">
              <a:lnSpc>
                <a:spcPct val="100000"/>
              </a:lnSpc>
              <a:spcAft>
                <a:spcPts val="400"/>
              </a:spcAft>
            </a:pPr>
            <a:r>
              <a:rPr sz="1150" b="1">
                <a:solidFill>
                  <a:srgbClr val="4F46E5"/>
                </a:solidFill>
                <a:latin typeface="Arial"/>
              </a:rPr>
              <a:t>github.com/impradumanrana/ResolveFlow-Ticketing-triage</a:t>
            </a:r>
          </a:p>
          <a:p>
            <a:pPr algn="l">
              <a:lnSpc>
                <a:spcPct val="100000"/>
              </a:lnSpc>
              <a:spcAft>
                <a:spcPts val="0"/>
              </a:spcAft>
            </a:pPr>
            <a:r>
              <a:rPr sz="1100" b="0">
                <a:solidFill>
                  <a:srgbClr val="B9C4FF"/>
                </a:solidFill>
                <a:latin typeface="Arial"/>
              </a:rPr>
              <a:t>docker compose up --build  →  localhost:8501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